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9" r:id="rId2"/>
  </p:sldIdLst>
  <p:sldSz cx="38404800" cy="27432000"/>
  <p:notesSz cx="7010400" cy="9296400"/>
  <p:defaultTextStyle>
    <a:defPPr>
      <a:defRPr lang="en-US"/>
    </a:defPPr>
    <a:lvl1pPr marL="0" algn="l" defTabSz="3762030" rtl="0" eaLnBrk="1" latinLnBrk="0" hangingPunct="1">
      <a:defRPr sz="7435" kern="1200">
        <a:solidFill>
          <a:schemeClr val="tx1"/>
        </a:solidFill>
        <a:latin typeface="+mn-lt"/>
        <a:ea typeface="+mn-ea"/>
        <a:cs typeface="+mn-cs"/>
      </a:defRPr>
    </a:lvl1pPr>
    <a:lvl2pPr marL="1881015" algn="l" defTabSz="3762030" rtl="0" eaLnBrk="1" latinLnBrk="0" hangingPunct="1">
      <a:defRPr sz="7435" kern="1200">
        <a:solidFill>
          <a:schemeClr val="tx1"/>
        </a:solidFill>
        <a:latin typeface="+mn-lt"/>
        <a:ea typeface="+mn-ea"/>
        <a:cs typeface="+mn-cs"/>
      </a:defRPr>
    </a:lvl2pPr>
    <a:lvl3pPr marL="3762030" algn="l" defTabSz="3762030" rtl="0" eaLnBrk="1" latinLnBrk="0" hangingPunct="1">
      <a:defRPr sz="7435" kern="1200">
        <a:solidFill>
          <a:schemeClr val="tx1"/>
        </a:solidFill>
        <a:latin typeface="+mn-lt"/>
        <a:ea typeface="+mn-ea"/>
        <a:cs typeface="+mn-cs"/>
      </a:defRPr>
    </a:lvl3pPr>
    <a:lvl4pPr marL="5643045" algn="l" defTabSz="3762030" rtl="0" eaLnBrk="1" latinLnBrk="0" hangingPunct="1">
      <a:defRPr sz="7435" kern="1200">
        <a:solidFill>
          <a:schemeClr val="tx1"/>
        </a:solidFill>
        <a:latin typeface="+mn-lt"/>
        <a:ea typeface="+mn-ea"/>
        <a:cs typeface="+mn-cs"/>
      </a:defRPr>
    </a:lvl4pPr>
    <a:lvl5pPr marL="7524060" algn="l" defTabSz="3762030" rtl="0" eaLnBrk="1" latinLnBrk="0" hangingPunct="1">
      <a:defRPr sz="7435" kern="1200">
        <a:solidFill>
          <a:schemeClr val="tx1"/>
        </a:solidFill>
        <a:latin typeface="+mn-lt"/>
        <a:ea typeface="+mn-ea"/>
        <a:cs typeface="+mn-cs"/>
      </a:defRPr>
    </a:lvl5pPr>
    <a:lvl6pPr marL="9405076" algn="l" defTabSz="3762030" rtl="0" eaLnBrk="1" latinLnBrk="0" hangingPunct="1">
      <a:defRPr sz="7435" kern="1200">
        <a:solidFill>
          <a:schemeClr val="tx1"/>
        </a:solidFill>
        <a:latin typeface="+mn-lt"/>
        <a:ea typeface="+mn-ea"/>
        <a:cs typeface="+mn-cs"/>
      </a:defRPr>
    </a:lvl6pPr>
    <a:lvl7pPr marL="11286091" algn="l" defTabSz="3762030" rtl="0" eaLnBrk="1" latinLnBrk="0" hangingPunct="1">
      <a:defRPr sz="7435" kern="1200">
        <a:solidFill>
          <a:schemeClr val="tx1"/>
        </a:solidFill>
        <a:latin typeface="+mn-lt"/>
        <a:ea typeface="+mn-ea"/>
        <a:cs typeface="+mn-cs"/>
      </a:defRPr>
    </a:lvl7pPr>
    <a:lvl8pPr marL="13167106" algn="l" defTabSz="3762030" rtl="0" eaLnBrk="1" latinLnBrk="0" hangingPunct="1">
      <a:defRPr sz="7435" kern="1200">
        <a:solidFill>
          <a:schemeClr val="tx1"/>
        </a:solidFill>
        <a:latin typeface="+mn-lt"/>
        <a:ea typeface="+mn-ea"/>
        <a:cs typeface="+mn-cs"/>
      </a:defRPr>
    </a:lvl8pPr>
    <a:lvl9pPr marL="15048122" algn="l" defTabSz="3762030" rtl="0" eaLnBrk="1" latinLnBrk="0" hangingPunct="1">
      <a:defRPr sz="743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0" userDrawn="1">
          <p15:clr>
            <a:srgbClr val="A4A3A4"/>
          </p15:clr>
        </p15:guide>
        <p15:guide id="2" pos="12096" userDrawn="1">
          <p15:clr>
            <a:srgbClr val="A4A3A4"/>
          </p15:clr>
        </p15:guide>
        <p15:guide id="3" orient="horz" pos="8615" userDrawn="1">
          <p15:clr>
            <a:srgbClr val="A4A3A4"/>
          </p15:clr>
        </p15:guide>
        <p15:guide id="4" orient="horz" pos="2741" userDrawn="1">
          <p15:clr>
            <a:srgbClr val="A4A3A4"/>
          </p15:clr>
        </p15:guide>
        <p15:guide id="5" orient="horz" pos="3373" userDrawn="1">
          <p15:clr>
            <a:srgbClr val="A4A3A4"/>
          </p15:clr>
        </p15:guide>
        <p15:guide id="6" orient="horz" pos="3713" userDrawn="1">
          <p15:clr>
            <a:srgbClr val="A4A3A4"/>
          </p15:clr>
        </p15:guide>
        <p15:guide id="7" orient="horz" pos="4004" userDrawn="1">
          <p15:clr>
            <a:srgbClr val="A4A3A4"/>
          </p15:clr>
        </p15:guide>
        <p15:guide id="8" orient="horz" pos="6186" userDrawn="1">
          <p15:clr>
            <a:srgbClr val="A4A3A4"/>
          </p15:clr>
        </p15:guide>
        <p15:guide id="9" orient="horz" pos="6476" userDrawn="1">
          <p15:clr>
            <a:srgbClr val="A4A3A4"/>
          </p15:clr>
        </p15:guide>
        <p15:guide id="10" orient="horz" pos="8272" userDrawn="1">
          <p15:clr>
            <a:srgbClr val="A4A3A4"/>
          </p15:clr>
        </p15:guide>
        <p15:guide id="11" orient="horz" pos="8950" userDrawn="1">
          <p15:clr>
            <a:srgbClr val="A4A3A4"/>
          </p15:clr>
        </p15:guide>
        <p15:guide id="12" orient="horz" pos="10647" userDrawn="1">
          <p15:clr>
            <a:srgbClr val="A4A3A4"/>
          </p15:clr>
        </p15:guide>
        <p15:guide id="13" orient="horz" pos="10933" userDrawn="1">
          <p15:clr>
            <a:srgbClr val="A4A3A4"/>
          </p15:clr>
        </p15:guide>
        <p15:guide id="14" orient="horz" pos="11270" userDrawn="1">
          <p15:clr>
            <a:srgbClr val="A4A3A4"/>
          </p15:clr>
        </p15:guide>
        <p15:guide id="15" orient="horz" pos="13641" userDrawn="1">
          <p15:clr>
            <a:srgbClr val="A4A3A4"/>
          </p15:clr>
        </p15:guide>
        <p15:guide id="16" orient="horz" pos="13978" userDrawn="1">
          <p15:clr>
            <a:srgbClr val="A4A3A4"/>
          </p15:clr>
        </p15:guide>
        <p15:guide id="17" orient="horz" pos="14268" userDrawn="1">
          <p15:clr>
            <a:srgbClr val="A4A3A4"/>
          </p15:clr>
        </p15:guide>
        <p15:guide id="18" orient="horz" pos="11618" userDrawn="1">
          <p15:clr>
            <a:srgbClr val="A4A3A4"/>
          </p15:clr>
        </p15:guide>
        <p15:guide id="19" orient="horz" pos="5762" userDrawn="1">
          <p15:clr>
            <a:srgbClr val="A4A3A4"/>
          </p15:clr>
        </p15:guide>
        <p15:guide id="20" orient="horz" pos="4123" userDrawn="1">
          <p15:clr>
            <a:srgbClr val="A4A3A4"/>
          </p15:clr>
        </p15:guide>
        <p15:guide id="21" orient="horz" pos="14579" userDrawn="1">
          <p15:clr>
            <a:srgbClr val="A4A3A4"/>
          </p15:clr>
        </p15:guide>
        <p15:guide id="22" orient="horz" pos="9740" userDrawn="1">
          <p15:clr>
            <a:srgbClr val="A4A3A4"/>
          </p15:clr>
        </p15:guide>
        <p15:guide id="23" orient="horz" pos="9633" userDrawn="1">
          <p15:clr>
            <a:srgbClr val="A4A3A4"/>
          </p15:clr>
        </p15:guide>
        <p15:guide id="24" pos="159" userDrawn="1">
          <p15:clr>
            <a:srgbClr val="A4A3A4"/>
          </p15:clr>
        </p15:guide>
        <p15:guide id="25" pos="5468" userDrawn="1">
          <p15:clr>
            <a:srgbClr val="A4A3A4"/>
          </p15:clr>
        </p15:guide>
        <p15:guide id="26" pos="5650" userDrawn="1">
          <p15:clr>
            <a:srgbClr val="A4A3A4"/>
          </p15:clr>
        </p15:guide>
        <p15:guide id="27" pos="5695" userDrawn="1">
          <p15:clr>
            <a:srgbClr val="A4A3A4"/>
          </p15:clr>
        </p15:guide>
        <p15:guide id="28" pos="10810" userDrawn="1">
          <p15:clr>
            <a:srgbClr val="A4A3A4"/>
          </p15:clr>
        </p15:guide>
        <p15:guide id="29" pos="10765" userDrawn="1">
          <p15:clr>
            <a:srgbClr val="A4A3A4"/>
          </p15:clr>
        </p15:guide>
        <p15:guide id="30" pos="10981" userDrawn="1">
          <p15:clr>
            <a:srgbClr val="A4A3A4"/>
          </p15:clr>
        </p15:guide>
        <p15:guide id="31" pos="18561" userDrawn="1">
          <p15:clr>
            <a:srgbClr val="A4A3A4"/>
          </p15:clr>
        </p15:guide>
        <p15:guide id="32" pos="11026" userDrawn="1">
          <p15:clr>
            <a:srgbClr val="A4A3A4"/>
          </p15:clr>
        </p15:guide>
        <p15:guide id="33" pos="18517" userDrawn="1">
          <p15:clr>
            <a:srgbClr val="A4A3A4"/>
          </p15:clr>
        </p15:guide>
        <p15:guide id="34" pos="24041" userDrawn="1">
          <p15:clr>
            <a:srgbClr val="A4A3A4"/>
          </p15:clr>
        </p15:guide>
        <p15:guide id="35" pos="18725" userDrawn="1">
          <p15:clr>
            <a:srgbClr val="A4A3A4"/>
          </p15:clr>
        </p15:guide>
        <p15:guide id="36" pos="14571" userDrawn="1">
          <p15:clr>
            <a:srgbClr val="A4A3A4"/>
          </p15:clr>
        </p15:guide>
        <p15:guide id="37" pos="10291" userDrawn="1">
          <p15:clr>
            <a:srgbClr val="A4A3A4"/>
          </p15:clr>
        </p15:guide>
        <p15:guide id="38" orient="horz" pos="7360" userDrawn="1">
          <p15:clr>
            <a:srgbClr val="A4A3A4"/>
          </p15:clr>
        </p15:guide>
        <p15:guide id="39" orient="horz" pos="6480" userDrawn="1">
          <p15:clr>
            <a:srgbClr val="A4A3A4"/>
          </p15:clr>
        </p15:guide>
        <p15:guide id="40" orient="horz" pos="15840" userDrawn="1">
          <p15:clr>
            <a:srgbClr val="A4A3A4"/>
          </p15:clr>
        </p15:guide>
        <p15:guide id="41" orient="horz" pos="3640" userDrawn="1">
          <p15:clr>
            <a:srgbClr val="A4A3A4"/>
          </p15:clr>
        </p15:guide>
        <p15:guide id="42" orient="horz" pos="16578" userDrawn="1">
          <p15:clr>
            <a:srgbClr val="A4A3A4"/>
          </p15:clr>
        </p15:guide>
        <p15:guide id="43" orient="horz" pos="10160" userDrawn="1">
          <p15:clr>
            <a:srgbClr val="A4A3A4"/>
          </p15:clr>
        </p15:guide>
        <p15:guide id="44" orient="horz" pos="9640" userDrawn="1">
          <p15:clr>
            <a:srgbClr val="A4A3A4"/>
          </p15:clr>
        </p15:guide>
        <p15:guide id="45" pos="5112" userDrawn="1">
          <p15:clr>
            <a:srgbClr val="A4A3A4"/>
          </p15:clr>
        </p15:guide>
        <p15:guide id="46" pos="5040" userDrawn="1">
          <p15:clr>
            <a:srgbClr val="A4A3A4"/>
          </p15:clr>
        </p15:guide>
        <p15:guide id="47" pos="6372" userDrawn="1">
          <p15:clr>
            <a:srgbClr val="A4A3A4"/>
          </p15:clr>
        </p15:guide>
        <p15:guide id="48" pos="5688" userDrawn="1">
          <p15:clr>
            <a:srgbClr val="A4A3A4"/>
          </p15:clr>
        </p15:guide>
        <p15:guide id="49" pos="10764" userDrawn="1">
          <p15:clr>
            <a:srgbClr val="A4A3A4"/>
          </p15:clr>
        </p15:guide>
        <p15:guide id="50" pos="10656" userDrawn="1">
          <p15:clr>
            <a:srgbClr val="A4A3A4"/>
          </p15:clr>
        </p15:guide>
        <p15:guide id="51" pos="2404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92F4028-A013-79C3-ACB3-A96E429CE8DF}" name="Gurcan, Emma C." initials="GEC" userId="S::egurcan@caltech.edu::b117bd3b-9595-4452-aa94-2c2a429c84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EFBB"/>
    <a:srgbClr val="EEE6B0"/>
    <a:srgbClr val="EFF0C3"/>
    <a:srgbClr val="EFB8EA"/>
    <a:srgbClr val="EB9AE1"/>
    <a:srgbClr val="F2C9E8"/>
    <a:srgbClr val="F68E06"/>
    <a:srgbClr val="E357C8"/>
    <a:srgbClr val="CCDAEC"/>
    <a:srgbClr val="D9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8" autoAdjust="0"/>
    <p:restoredTop sz="95840" autoAdjust="0"/>
  </p:normalViewPr>
  <p:slideViewPr>
    <p:cSldViewPr>
      <p:cViewPr>
        <p:scale>
          <a:sx n="105" d="100"/>
          <a:sy n="105" d="100"/>
        </p:scale>
        <p:origin x="128" y="-7720"/>
      </p:cViewPr>
      <p:guideLst>
        <p:guide orient="horz" pos="8640"/>
        <p:guide pos="12096"/>
        <p:guide orient="horz" pos="8615"/>
        <p:guide orient="horz" pos="2741"/>
        <p:guide orient="horz" pos="3373"/>
        <p:guide orient="horz" pos="3713"/>
        <p:guide orient="horz" pos="4004"/>
        <p:guide orient="horz" pos="6186"/>
        <p:guide orient="horz" pos="6476"/>
        <p:guide orient="horz" pos="8272"/>
        <p:guide orient="horz" pos="8950"/>
        <p:guide orient="horz" pos="10647"/>
        <p:guide orient="horz" pos="10933"/>
        <p:guide orient="horz" pos="11270"/>
        <p:guide orient="horz" pos="13641"/>
        <p:guide orient="horz" pos="13978"/>
        <p:guide orient="horz" pos="14268"/>
        <p:guide orient="horz" pos="11618"/>
        <p:guide orient="horz" pos="5762"/>
        <p:guide orient="horz" pos="4123"/>
        <p:guide orient="horz" pos="14579"/>
        <p:guide orient="horz" pos="9740"/>
        <p:guide orient="horz" pos="9633"/>
        <p:guide pos="159"/>
        <p:guide pos="5468"/>
        <p:guide pos="5650"/>
        <p:guide pos="5695"/>
        <p:guide pos="10810"/>
        <p:guide pos="10765"/>
        <p:guide pos="10981"/>
        <p:guide pos="18561"/>
        <p:guide pos="11026"/>
        <p:guide pos="18517"/>
        <p:guide pos="24041"/>
        <p:guide pos="18725"/>
        <p:guide pos="14571"/>
        <p:guide pos="10291"/>
        <p:guide orient="horz" pos="7360"/>
        <p:guide orient="horz" pos="6480"/>
        <p:guide orient="horz" pos="15840"/>
        <p:guide orient="horz" pos="3640"/>
        <p:guide orient="horz" pos="16578"/>
        <p:guide orient="horz" pos="10160"/>
        <p:guide orient="horz" pos="9640"/>
        <p:guide pos="5112"/>
        <p:guide pos="5040"/>
        <p:guide pos="6372"/>
        <p:guide pos="5688"/>
        <p:guide pos="10764"/>
        <p:guide pos="10656"/>
        <p:guide pos="2404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emmagurcan/Library/Mobile%20Documents/com~apple~CloudDocs/Documents/OneDrive%20-%20California%20Institute%20of%20Technology/2021-2022/WI_2022/CS2_TA/RESPECT/Book1(AutoRecover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Percent Agreement with Survey Statement</a:t>
            </a:r>
          </a:p>
        </c:rich>
      </c:tx>
      <c:layout>
        <c:manualLayout>
          <c:xMode val="edge"/>
          <c:yMode val="edge"/>
          <c:x val="0.28993055555555558"/>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1265857392825895E-2"/>
          <c:y val="5.7327327327327322E-2"/>
          <c:w val="0.93137303149606299"/>
          <c:h val="0.4071776500910359"/>
        </c:manualLayout>
      </c:layout>
      <c:barChart>
        <c:barDir val="col"/>
        <c:grouping val="clustered"/>
        <c:varyColors val="0"/>
        <c:ser>
          <c:idx val="0"/>
          <c:order val="0"/>
          <c:tx>
            <c:strRef>
              <c:f>Sheet1!$D$8</c:f>
              <c:strCache>
                <c:ptCount val="1"/>
                <c:pt idx="0">
                  <c:v>Percent Agreement</c:v>
                </c:pt>
              </c:strCache>
            </c:strRef>
          </c:tx>
          <c:spPr>
            <a:solidFill>
              <a:schemeClr val="accent6"/>
            </a:solidFill>
            <a:ln>
              <a:noFill/>
            </a:ln>
            <a:effectLst/>
          </c:spPr>
          <c:invertIfNegative val="0"/>
          <c:dPt>
            <c:idx val="0"/>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01-359E-8340-99DD-92B62576C654}"/>
              </c:ext>
            </c:extLst>
          </c:dPt>
          <c:dPt>
            <c:idx val="1"/>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3-359E-8340-99DD-92B62576C654}"/>
              </c:ext>
            </c:extLst>
          </c:dPt>
          <c:dPt>
            <c:idx val="2"/>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05-359E-8340-99DD-92B62576C654}"/>
              </c:ext>
            </c:extLst>
          </c:dPt>
          <c:dPt>
            <c:idx val="3"/>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7-359E-8340-99DD-92B62576C654}"/>
              </c:ext>
            </c:extLst>
          </c:dPt>
          <c:dPt>
            <c:idx val="4"/>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9-359E-8340-99DD-92B62576C654}"/>
              </c:ext>
            </c:extLst>
          </c:dPt>
          <c:dPt>
            <c:idx val="5"/>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B-359E-8340-99DD-92B62576C65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Sheet1!$C$9:$C$14</c:f>
              <c:strCache>
                <c:ptCount val="6"/>
                <c:pt idx="0">
                  <c:v>Bridge-Group made me feel more confident in my programming abilities.</c:v>
                </c:pt>
                <c:pt idx="1">
                  <c:v>During Bridge-Group office hours, I felt comfortable asking questions that I felt my other peers might already know the answer to.</c:v>
                </c:pt>
                <c:pt idx="2">
                  <c:v>Bridge-Group has made me feel more confident in my ability to pursue Computer Science beyond CS2.</c:v>
                </c:pt>
                <c:pt idx="3">
                  <c:v>I feel like the Bridge-Group has fostered a collaborative community.</c:v>
                </c:pt>
                <c:pt idx="4">
                  <c:v>I feel accepted in the bridge-group community.</c:v>
                </c:pt>
                <c:pt idx="5">
                  <c:v>I feel like I belong in the Computer Science community.</c:v>
                </c:pt>
              </c:strCache>
            </c:strRef>
          </c:cat>
          <c:val>
            <c:numRef>
              <c:f>Sheet1!$D$9:$D$14</c:f>
              <c:numCache>
                <c:formatCode>0</c:formatCode>
                <c:ptCount val="6"/>
                <c:pt idx="0">
                  <c:v>100</c:v>
                </c:pt>
                <c:pt idx="1">
                  <c:v>100</c:v>
                </c:pt>
                <c:pt idx="2">
                  <c:v>100</c:v>
                </c:pt>
                <c:pt idx="3">
                  <c:v>100</c:v>
                </c:pt>
                <c:pt idx="4">
                  <c:v>100</c:v>
                </c:pt>
                <c:pt idx="5">
                  <c:v>91.666666666666671</c:v>
                </c:pt>
              </c:numCache>
            </c:numRef>
          </c:val>
          <c:extLst>
            <c:ext xmlns:c16="http://schemas.microsoft.com/office/drawing/2014/chart" uri="{C3380CC4-5D6E-409C-BE32-E72D297353CC}">
              <c16:uniqueId val="{0000000C-359E-8340-99DD-92B62576C654}"/>
            </c:ext>
          </c:extLst>
        </c:ser>
        <c:dLbls>
          <c:dLblPos val="inEnd"/>
          <c:showLegendKey val="0"/>
          <c:showVal val="1"/>
          <c:showCatName val="0"/>
          <c:showSerName val="0"/>
          <c:showPercent val="0"/>
          <c:showBubbleSize val="0"/>
        </c:dLbls>
        <c:gapWidth val="91"/>
        <c:overlap val="-24"/>
        <c:axId val="854318672"/>
        <c:axId val="854324272"/>
      </c:barChart>
      <c:catAx>
        <c:axId val="854318672"/>
        <c:scaling>
          <c:orientation val="minMax"/>
        </c:scaling>
        <c:delete val="1"/>
        <c:axPos val="b"/>
        <c:numFmt formatCode="General" sourceLinked="1"/>
        <c:majorTickMark val="none"/>
        <c:minorTickMark val="none"/>
        <c:tickLblPos val="nextTo"/>
        <c:crossAx val="854324272"/>
        <c:crosses val="autoZero"/>
        <c:auto val="1"/>
        <c:lblAlgn val="ctr"/>
        <c:lblOffset val="100"/>
        <c:noMultiLvlLbl val="0"/>
      </c:catAx>
      <c:valAx>
        <c:axId val="854324272"/>
        <c:scaling>
          <c:orientation val="minMax"/>
          <c:max val="100"/>
          <c:min val="2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4318672"/>
        <c:crosses val="autoZero"/>
        <c:crossBetween val="between"/>
      </c:valAx>
      <c:spPr>
        <a:noFill/>
        <a:ln>
          <a:noFill/>
        </a:ln>
        <a:effectLst/>
      </c:spPr>
    </c:plotArea>
    <c:legend>
      <c:legendPos val="b"/>
      <c:layout>
        <c:manualLayout>
          <c:xMode val="edge"/>
          <c:yMode val="edge"/>
          <c:x val="2.546505905511811E-2"/>
          <c:y val="0.48552599843938421"/>
          <c:w val="0.97279882983377075"/>
          <c:h val="0.51147099855761269"/>
        </c:manualLayout>
      </c:layout>
      <c:overlay val="0"/>
      <c:spPr>
        <a:noFill/>
        <a:ln>
          <a:noFill/>
        </a:ln>
        <a:effectLst/>
      </c:spPr>
      <c:txPr>
        <a:bodyPr rot="0" spcFirstLastPara="1" vertOverflow="ellipsis" vert="horz" wrap="square" anchor="t" anchorCtr="0"/>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lumMod val="15000"/>
          <a:lumOff val="85000"/>
        </a:schemeClr>
      </a:solidFill>
      <a:round/>
    </a:ln>
    <a:effectLst/>
  </c:spPr>
  <c:txPr>
    <a:bodyPr anchor="t" anchorCtr="0"/>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E38D11F-325D-CF4C-9467-75584D4DE52B}" type="datetimeFigureOut">
              <a:rPr lang="en-US" smtClean="0"/>
              <a:t>5/17/22</a:t>
            </a:fld>
            <a:endParaRPr lang="en-US"/>
          </a:p>
        </p:txBody>
      </p:sp>
      <p:sp>
        <p:nvSpPr>
          <p:cNvPr id="4" name="Slide Image Placeholder 3"/>
          <p:cNvSpPr>
            <a:spLocks noGrp="1" noRot="1" noChangeAspect="1"/>
          </p:cNvSpPr>
          <p:nvPr>
            <p:ph type="sldImg" idx="2"/>
          </p:nvPr>
        </p:nvSpPr>
        <p:spPr>
          <a:xfrm>
            <a:off x="1309688" y="1162050"/>
            <a:ext cx="439102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97B276C-87E3-754F-B987-F6D9A2527FC2}" type="slidenum">
              <a:rPr lang="en-US" smtClean="0"/>
              <a:t>‹#›</a:t>
            </a:fld>
            <a:endParaRPr lang="en-US"/>
          </a:p>
        </p:txBody>
      </p:sp>
    </p:spTree>
    <p:extLst>
      <p:ext uri="{BB962C8B-B14F-4D97-AF65-F5344CB8AC3E}">
        <p14:creationId xmlns:p14="http://schemas.microsoft.com/office/powerpoint/2010/main" val="1778547729"/>
      </p:ext>
    </p:extLst>
  </p:cSld>
  <p:clrMap bg1="lt1" tx1="dk1" bg2="lt2" tx2="dk2" accent1="accent1" accent2="accent2" accent3="accent3" accent4="accent4" accent5="accent5" accent6="accent6" hlink="hlink" folHlink="folHlink"/>
  <p:notesStyle>
    <a:lvl1pPr marL="0" algn="l" defTabSz="715609" rtl="0" eaLnBrk="1" latinLnBrk="0" hangingPunct="1">
      <a:defRPr sz="939" kern="1200">
        <a:solidFill>
          <a:schemeClr val="tx1"/>
        </a:solidFill>
        <a:latin typeface="+mn-lt"/>
        <a:ea typeface="+mn-ea"/>
        <a:cs typeface="+mn-cs"/>
      </a:defRPr>
    </a:lvl1pPr>
    <a:lvl2pPr marL="357805" algn="l" defTabSz="715609" rtl="0" eaLnBrk="1" latinLnBrk="0" hangingPunct="1">
      <a:defRPr sz="939" kern="1200">
        <a:solidFill>
          <a:schemeClr val="tx1"/>
        </a:solidFill>
        <a:latin typeface="+mn-lt"/>
        <a:ea typeface="+mn-ea"/>
        <a:cs typeface="+mn-cs"/>
      </a:defRPr>
    </a:lvl2pPr>
    <a:lvl3pPr marL="715609" algn="l" defTabSz="715609" rtl="0" eaLnBrk="1" latinLnBrk="0" hangingPunct="1">
      <a:defRPr sz="939" kern="1200">
        <a:solidFill>
          <a:schemeClr val="tx1"/>
        </a:solidFill>
        <a:latin typeface="+mn-lt"/>
        <a:ea typeface="+mn-ea"/>
        <a:cs typeface="+mn-cs"/>
      </a:defRPr>
    </a:lvl3pPr>
    <a:lvl4pPr marL="1073414" algn="l" defTabSz="715609" rtl="0" eaLnBrk="1" latinLnBrk="0" hangingPunct="1">
      <a:defRPr sz="939" kern="1200">
        <a:solidFill>
          <a:schemeClr val="tx1"/>
        </a:solidFill>
        <a:latin typeface="+mn-lt"/>
        <a:ea typeface="+mn-ea"/>
        <a:cs typeface="+mn-cs"/>
      </a:defRPr>
    </a:lvl4pPr>
    <a:lvl5pPr marL="1431219" algn="l" defTabSz="715609" rtl="0" eaLnBrk="1" latinLnBrk="0" hangingPunct="1">
      <a:defRPr sz="939" kern="1200">
        <a:solidFill>
          <a:schemeClr val="tx1"/>
        </a:solidFill>
        <a:latin typeface="+mn-lt"/>
        <a:ea typeface="+mn-ea"/>
        <a:cs typeface="+mn-cs"/>
      </a:defRPr>
    </a:lvl5pPr>
    <a:lvl6pPr marL="1789024" algn="l" defTabSz="715609" rtl="0" eaLnBrk="1" latinLnBrk="0" hangingPunct="1">
      <a:defRPr sz="939" kern="1200">
        <a:solidFill>
          <a:schemeClr val="tx1"/>
        </a:solidFill>
        <a:latin typeface="+mn-lt"/>
        <a:ea typeface="+mn-ea"/>
        <a:cs typeface="+mn-cs"/>
      </a:defRPr>
    </a:lvl6pPr>
    <a:lvl7pPr marL="2146828" algn="l" defTabSz="715609" rtl="0" eaLnBrk="1" latinLnBrk="0" hangingPunct="1">
      <a:defRPr sz="939" kern="1200">
        <a:solidFill>
          <a:schemeClr val="tx1"/>
        </a:solidFill>
        <a:latin typeface="+mn-lt"/>
        <a:ea typeface="+mn-ea"/>
        <a:cs typeface="+mn-cs"/>
      </a:defRPr>
    </a:lvl7pPr>
    <a:lvl8pPr marL="2504633" algn="l" defTabSz="715609" rtl="0" eaLnBrk="1" latinLnBrk="0" hangingPunct="1">
      <a:defRPr sz="939" kern="1200">
        <a:solidFill>
          <a:schemeClr val="tx1"/>
        </a:solidFill>
        <a:latin typeface="+mn-lt"/>
        <a:ea typeface="+mn-ea"/>
        <a:cs typeface="+mn-cs"/>
      </a:defRPr>
    </a:lvl8pPr>
    <a:lvl9pPr marL="2862438" algn="l" defTabSz="715609" rtl="0" eaLnBrk="1" latinLnBrk="0" hangingPunct="1">
      <a:defRPr sz="93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09688" y="1162050"/>
            <a:ext cx="4391025"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7B276C-87E3-754F-B987-F6D9A2527FC2}" type="slidenum">
              <a:rPr lang="en-US" smtClean="0"/>
              <a:t>1</a:t>
            </a:fld>
            <a:endParaRPr lang="en-US"/>
          </a:p>
        </p:txBody>
      </p:sp>
    </p:spTree>
    <p:extLst>
      <p:ext uri="{BB962C8B-B14F-4D97-AF65-F5344CB8AC3E}">
        <p14:creationId xmlns:p14="http://schemas.microsoft.com/office/powerpoint/2010/main" val="95552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8521702"/>
            <a:ext cx="32644080" cy="5880100"/>
          </a:xfrm>
        </p:spPr>
        <p:txBody>
          <a:bodyPr/>
          <a:lstStyle/>
          <a:p>
            <a:r>
              <a:rPr lang="en-US"/>
              <a:t>Click to edit Master title style</a:t>
            </a:r>
          </a:p>
        </p:txBody>
      </p:sp>
      <p:sp>
        <p:nvSpPr>
          <p:cNvPr id="3" name="Subtitle 2"/>
          <p:cNvSpPr>
            <a:spLocks noGrp="1"/>
          </p:cNvSpPr>
          <p:nvPr>
            <p:ph type="subTitle" idx="1"/>
          </p:nvPr>
        </p:nvSpPr>
        <p:spPr>
          <a:xfrm>
            <a:off x="5760720" y="15544800"/>
            <a:ext cx="26883360" cy="7010400"/>
          </a:xfrm>
        </p:spPr>
        <p:txBody>
          <a:bodyPr/>
          <a:lstStyle>
            <a:lvl1pPr marL="0" indent="0" algn="ctr">
              <a:buNone/>
              <a:defRPr>
                <a:solidFill>
                  <a:schemeClr val="tx1">
                    <a:tint val="75000"/>
                  </a:schemeClr>
                </a:solidFill>
              </a:defRPr>
            </a:lvl1pPr>
            <a:lvl2pPr marL="1802660" indent="0" algn="ctr">
              <a:buNone/>
              <a:defRPr>
                <a:solidFill>
                  <a:schemeClr val="tx1">
                    <a:tint val="75000"/>
                  </a:schemeClr>
                </a:solidFill>
              </a:defRPr>
            </a:lvl2pPr>
            <a:lvl3pPr marL="3605319" indent="0" algn="ctr">
              <a:buNone/>
              <a:defRPr>
                <a:solidFill>
                  <a:schemeClr val="tx1">
                    <a:tint val="75000"/>
                  </a:schemeClr>
                </a:solidFill>
              </a:defRPr>
            </a:lvl3pPr>
            <a:lvl4pPr marL="5407979" indent="0" algn="ctr">
              <a:buNone/>
              <a:defRPr>
                <a:solidFill>
                  <a:schemeClr val="tx1">
                    <a:tint val="75000"/>
                  </a:schemeClr>
                </a:solidFill>
              </a:defRPr>
            </a:lvl4pPr>
            <a:lvl5pPr marL="7210638" indent="0" algn="ctr">
              <a:buNone/>
              <a:defRPr>
                <a:solidFill>
                  <a:schemeClr val="tx1">
                    <a:tint val="75000"/>
                  </a:schemeClr>
                </a:solidFill>
              </a:defRPr>
            </a:lvl5pPr>
            <a:lvl6pPr marL="9013298" indent="0" algn="ctr">
              <a:buNone/>
              <a:defRPr>
                <a:solidFill>
                  <a:schemeClr val="tx1">
                    <a:tint val="75000"/>
                  </a:schemeClr>
                </a:solidFill>
              </a:defRPr>
            </a:lvl6pPr>
            <a:lvl7pPr marL="10815958" indent="0" algn="ctr">
              <a:buNone/>
              <a:defRPr>
                <a:solidFill>
                  <a:schemeClr val="tx1">
                    <a:tint val="75000"/>
                  </a:schemeClr>
                </a:solidFill>
              </a:defRPr>
            </a:lvl7pPr>
            <a:lvl8pPr marL="12618617" indent="0" algn="ctr">
              <a:buNone/>
              <a:defRPr>
                <a:solidFill>
                  <a:schemeClr val="tx1">
                    <a:tint val="75000"/>
                  </a:schemeClr>
                </a:solidFill>
              </a:defRPr>
            </a:lvl8pPr>
            <a:lvl9pPr marL="1442127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4EDE25-B486-4D63-BBA9-5F4FD67F9148}" type="datetimeFigureOut">
              <a:rPr lang="en-US" smtClean="0"/>
              <a:t>5/17/22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2563239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EDE25-B486-4D63-BBA9-5F4FD67F9148}" type="datetimeFigureOut">
              <a:rPr lang="en-US" smtClean="0"/>
              <a:t>5/17/22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2523232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5" y="17627602"/>
            <a:ext cx="32644080" cy="5448300"/>
          </a:xfrm>
        </p:spPr>
        <p:txBody>
          <a:bodyPr anchor="t"/>
          <a:lstStyle>
            <a:lvl1pPr algn="l">
              <a:defRPr sz="15750" b="1" cap="all"/>
            </a:lvl1pPr>
          </a:lstStyle>
          <a:p>
            <a:r>
              <a:rPr lang="en-US"/>
              <a:t>Click to edit Master title style</a:t>
            </a:r>
          </a:p>
        </p:txBody>
      </p:sp>
      <p:sp>
        <p:nvSpPr>
          <p:cNvPr id="3" name="Text Placeholder 2"/>
          <p:cNvSpPr>
            <a:spLocks noGrp="1"/>
          </p:cNvSpPr>
          <p:nvPr>
            <p:ph type="body" idx="1"/>
          </p:nvPr>
        </p:nvSpPr>
        <p:spPr>
          <a:xfrm>
            <a:off x="3033715" y="11626854"/>
            <a:ext cx="32644080" cy="6000748"/>
          </a:xfrm>
        </p:spPr>
        <p:txBody>
          <a:bodyPr anchor="b"/>
          <a:lstStyle>
            <a:lvl1pPr marL="0" indent="0">
              <a:buNone/>
              <a:defRPr sz="7875">
                <a:solidFill>
                  <a:schemeClr val="tx1">
                    <a:tint val="75000"/>
                  </a:schemeClr>
                </a:solidFill>
              </a:defRPr>
            </a:lvl1pPr>
            <a:lvl2pPr marL="1802660" indent="0">
              <a:buNone/>
              <a:defRPr sz="7125">
                <a:solidFill>
                  <a:schemeClr val="tx1">
                    <a:tint val="75000"/>
                  </a:schemeClr>
                </a:solidFill>
              </a:defRPr>
            </a:lvl2pPr>
            <a:lvl3pPr marL="3605319" indent="0">
              <a:buNone/>
              <a:defRPr sz="6300">
                <a:solidFill>
                  <a:schemeClr val="tx1">
                    <a:tint val="75000"/>
                  </a:schemeClr>
                </a:solidFill>
              </a:defRPr>
            </a:lvl3pPr>
            <a:lvl4pPr marL="5407979" indent="0">
              <a:buNone/>
              <a:defRPr sz="5550">
                <a:solidFill>
                  <a:schemeClr val="tx1">
                    <a:tint val="75000"/>
                  </a:schemeClr>
                </a:solidFill>
              </a:defRPr>
            </a:lvl4pPr>
            <a:lvl5pPr marL="7210638" indent="0">
              <a:buNone/>
              <a:defRPr sz="5550">
                <a:solidFill>
                  <a:schemeClr val="tx1">
                    <a:tint val="75000"/>
                  </a:schemeClr>
                </a:solidFill>
              </a:defRPr>
            </a:lvl5pPr>
            <a:lvl6pPr marL="9013298" indent="0">
              <a:buNone/>
              <a:defRPr sz="5550">
                <a:solidFill>
                  <a:schemeClr val="tx1">
                    <a:tint val="75000"/>
                  </a:schemeClr>
                </a:solidFill>
              </a:defRPr>
            </a:lvl6pPr>
            <a:lvl7pPr marL="10815958" indent="0">
              <a:buNone/>
              <a:defRPr sz="5550">
                <a:solidFill>
                  <a:schemeClr val="tx1">
                    <a:tint val="75000"/>
                  </a:schemeClr>
                </a:solidFill>
              </a:defRPr>
            </a:lvl7pPr>
            <a:lvl8pPr marL="12618617" indent="0">
              <a:buNone/>
              <a:defRPr sz="5550">
                <a:solidFill>
                  <a:schemeClr val="tx1">
                    <a:tint val="75000"/>
                  </a:schemeClr>
                </a:solidFill>
              </a:defRPr>
            </a:lvl8pPr>
            <a:lvl9pPr marL="14421277" indent="0">
              <a:buNone/>
              <a:defRPr sz="55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4EDE25-B486-4D63-BBA9-5F4FD67F9148}" type="datetimeFigureOut">
              <a:rPr lang="en-US" smtClean="0"/>
              <a:t>5/17/22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2399466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4680" y="30721300"/>
            <a:ext cx="96458720" cy="86899752"/>
          </a:xfrm>
        </p:spPr>
        <p:txBody>
          <a:bodyPr/>
          <a:lstStyle>
            <a:lvl1pPr>
              <a:defRPr sz="11025"/>
            </a:lvl1pPr>
            <a:lvl2pPr>
              <a:defRPr sz="9450"/>
            </a:lvl2pPr>
            <a:lvl3pPr>
              <a:defRPr sz="7875"/>
            </a:lvl3pPr>
            <a:lvl4pPr>
              <a:defRPr sz="7125"/>
            </a:lvl4pPr>
            <a:lvl5pPr>
              <a:defRPr sz="7125"/>
            </a:lvl5pPr>
            <a:lvl6pPr>
              <a:defRPr sz="7125"/>
            </a:lvl6pPr>
            <a:lvl7pPr>
              <a:defRPr sz="7125"/>
            </a:lvl7pPr>
            <a:lvl8pPr>
              <a:defRPr sz="7125"/>
            </a:lvl8pPr>
            <a:lvl9pPr>
              <a:defRPr sz="7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7853483" y="30721300"/>
            <a:ext cx="96458725" cy="86899752"/>
          </a:xfrm>
        </p:spPr>
        <p:txBody>
          <a:bodyPr/>
          <a:lstStyle>
            <a:lvl1pPr>
              <a:defRPr sz="11025"/>
            </a:lvl1pPr>
            <a:lvl2pPr>
              <a:defRPr sz="9450"/>
            </a:lvl2pPr>
            <a:lvl3pPr>
              <a:defRPr sz="7875"/>
            </a:lvl3pPr>
            <a:lvl4pPr>
              <a:defRPr sz="7125"/>
            </a:lvl4pPr>
            <a:lvl5pPr>
              <a:defRPr sz="7125"/>
            </a:lvl5pPr>
            <a:lvl6pPr>
              <a:defRPr sz="7125"/>
            </a:lvl6pPr>
            <a:lvl7pPr>
              <a:defRPr sz="7125"/>
            </a:lvl7pPr>
            <a:lvl8pPr>
              <a:defRPr sz="7125"/>
            </a:lvl8pPr>
            <a:lvl9pPr>
              <a:defRPr sz="7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4EDE25-B486-4D63-BBA9-5F4FD67F9148}" type="datetimeFigureOut">
              <a:rPr lang="en-US" smtClean="0"/>
              <a:t>5/17/22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44096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20240" y="1098552"/>
            <a:ext cx="34564320" cy="4572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20240" y="6140452"/>
            <a:ext cx="16968790" cy="2559048"/>
          </a:xfrm>
        </p:spPr>
        <p:txBody>
          <a:bodyPr anchor="b"/>
          <a:lstStyle>
            <a:lvl1pPr marL="0" indent="0">
              <a:buNone/>
              <a:defRPr sz="9450" b="1"/>
            </a:lvl1pPr>
            <a:lvl2pPr marL="1802660" indent="0">
              <a:buNone/>
              <a:defRPr sz="7875" b="1"/>
            </a:lvl2pPr>
            <a:lvl3pPr marL="3605319" indent="0">
              <a:buNone/>
              <a:defRPr sz="7125" b="1"/>
            </a:lvl3pPr>
            <a:lvl4pPr marL="5407979" indent="0">
              <a:buNone/>
              <a:defRPr sz="6300" b="1"/>
            </a:lvl4pPr>
            <a:lvl5pPr marL="7210638" indent="0">
              <a:buNone/>
              <a:defRPr sz="6300" b="1"/>
            </a:lvl5pPr>
            <a:lvl6pPr marL="9013298" indent="0">
              <a:buNone/>
              <a:defRPr sz="6300" b="1"/>
            </a:lvl6pPr>
            <a:lvl7pPr marL="10815958" indent="0">
              <a:buNone/>
              <a:defRPr sz="6300" b="1"/>
            </a:lvl7pPr>
            <a:lvl8pPr marL="12618617" indent="0">
              <a:buNone/>
              <a:defRPr sz="6300" b="1"/>
            </a:lvl8pPr>
            <a:lvl9pPr marL="14421277" indent="0">
              <a:buNone/>
              <a:defRPr sz="6300" b="1"/>
            </a:lvl9pPr>
          </a:lstStyle>
          <a:p>
            <a:pPr lvl="0"/>
            <a:r>
              <a:rPr lang="en-US"/>
              <a:t>Click to edit Master text styles</a:t>
            </a:r>
          </a:p>
        </p:txBody>
      </p:sp>
      <p:sp>
        <p:nvSpPr>
          <p:cNvPr id="4" name="Content Placeholder 3"/>
          <p:cNvSpPr>
            <a:spLocks noGrp="1"/>
          </p:cNvSpPr>
          <p:nvPr>
            <p:ph sz="half" idx="2"/>
          </p:nvPr>
        </p:nvSpPr>
        <p:spPr>
          <a:xfrm>
            <a:off x="1920240" y="8699500"/>
            <a:ext cx="16968790" cy="15805152"/>
          </a:xfrm>
        </p:spPr>
        <p:txBody>
          <a:bodyPr/>
          <a:lstStyle>
            <a:lvl1pPr>
              <a:defRPr sz="9450"/>
            </a:lvl1pPr>
            <a:lvl2pPr>
              <a:defRPr sz="7875"/>
            </a:lvl2pPr>
            <a:lvl3pPr>
              <a:defRPr sz="7125"/>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9107" y="6140452"/>
            <a:ext cx="16975455" cy="2559048"/>
          </a:xfrm>
        </p:spPr>
        <p:txBody>
          <a:bodyPr anchor="b"/>
          <a:lstStyle>
            <a:lvl1pPr marL="0" indent="0">
              <a:buNone/>
              <a:defRPr sz="9450" b="1"/>
            </a:lvl1pPr>
            <a:lvl2pPr marL="1802660" indent="0">
              <a:buNone/>
              <a:defRPr sz="7875" b="1"/>
            </a:lvl2pPr>
            <a:lvl3pPr marL="3605319" indent="0">
              <a:buNone/>
              <a:defRPr sz="7125" b="1"/>
            </a:lvl3pPr>
            <a:lvl4pPr marL="5407979" indent="0">
              <a:buNone/>
              <a:defRPr sz="6300" b="1"/>
            </a:lvl4pPr>
            <a:lvl5pPr marL="7210638" indent="0">
              <a:buNone/>
              <a:defRPr sz="6300" b="1"/>
            </a:lvl5pPr>
            <a:lvl6pPr marL="9013298" indent="0">
              <a:buNone/>
              <a:defRPr sz="6300" b="1"/>
            </a:lvl6pPr>
            <a:lvl7pPr marL="10815958" indent="0">
              <a:buNone/>
              <a:defRPr sz="6300" b="1"/>
            </a:lvl7pPr>
            <a:lvl8pPr marL="12618617" indent="0">
              <a:buNone/>
              <a:defRPr sz="6300" b="1"/>
            </a:lvl8pPr>
            <a:lvl9pPr marL="14421277" indent="0">
              <a:buNone/>
              <a:defRPr sz="6300" b="1"/>
            </a:lvl9pPr>
          </a:lstStyle>
          <a:p>
            <a:pPr lvl="0"/>
            <a:r>
              <a:rPr lang="en-US"/>
              <a:t>Click to edit Master text styles</a:t>
            </a:r>
          </a:p>
        </p:txBody>
      </p:sp>
      <p:sp>
        <p:nvSpPr>
          <p:cNvPr id="6" name="Content Placeholder 5"/>
          <p:cNvSpPr>
            <a:spLocks noGrp="1"/>
          </p:cNvSpPr>
          <p:nvPr>
            <p:ph sz="quarter" idx="4"/>
          </p:nvPr>
        </p:nvSpPr>
        <p:spPr>
          <a:xfrm>
            <a:off x="19509107" y="8699500"/>
            <a:ext cx="16975455" cy="15805152"/>
          </a:xfrm>
        </p:spPr>
        <p:txBody>
          <a:bodyPr/>
          <a:lstStyle>
            <a:lvl1pPr>
              <a:defRPr sz="9450"/>
            </a:lvl1pPr>
            <a:lvl2pPr>
              <a:defRPr sz="7875"/>
            </a:lvl2pPr>
            <a:lvl3pPr>
              <a:defRPr sz="7125"/>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4EDE25-B486-4D63-BBA9-5F4FD67F9148}" type="datetimeFigureOut">
              <a:rPr lang="en-US" smtClean="0"/>
              <a:t>5/17/22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681385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C4EDE25-B486-4D63-BBA9-5F4FD67F9148}" type="datetimeFigureOut">
              <a:rPr lang="en-US" smtClean="0"/>
              <a:t>5/17/22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1452176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4EDE25-B486-4D63-BBA9-5F4FD67F9148}" type="datetimeFigureOut">
              <a:rPr lang="en-US" smtClean="0"/>
              <a:t>5/17/22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1710486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3" y="1092200"/>
            <a:ext cx="12634915" cy="4648200"/>
          </a:xfrm>
        </p:spPr>
        <p:txBody>
          <a:bodyPr anchor="b"/>
          <a:lstStyle>
            <a:lvl1pPr algn="l">
              <a:defRPr sz="7875" b="1"/>
            </a:lvl1pPr>
          </a:lstStyle>
          <a:p>
            <a:r>
              <a:rPr lang="en-US"/>
              <a:t>Click to edit Master title style</a:t>
            </a:r>
          </a:p>
        </p:txBody>
      </p:sp>
      <p:sp>
        <p:nvSpPr>
          <p:cNvPr id="3" name="Content Placeholder 2"/>
          <p:cNvSpPr>
            <a:spLocks noGrp="1"/>
          </p:cNvSpPr>
          <p:nvPr>
            <p:ph idx="1"/>
          </p:nvPr>
        </p:nvSpPr>
        <p:spPr>
          <a:xfrm>
            <a:off x="15015210" y="1092202"/>
            <a:ext cx="21469350" cy="23412452"/>
          </a:xfrm>
        </p:spPr>
        <p:txBody>
          <a:bodyPr/>
          <a:lstStyle>
            <a:lvl1pPr>
              <a:defRPr sz="12600"/>
            </a:lvl1pPr>
            <a:lvl2pPr>
              <a:defRPr sz="11025"/>
            </a:lvl2pPr>
            <a:lvl3pPr>
              <a:defRPr sz="9450"/>
            </a:lvl3pPr>
            <a:lvl4pPr>
              <a:defRPr sz="7875"/>
            </a:lvl4pPr>
            <a:lvl5pPr>
              <a:defRPr sz="7875"/>
            </a:lvl5pPr>
            <a:lvl6pPr>
              <a:defRPr sz="7875"/>
            </a:lvl6pPr>
            <a:lvl7pPr>
              <a:defRPr sz="7875"/>
            </a:lvl7pPr>
            <a:lvl8pPr>
              <a:defRPr sz="7875"/>
            </a:lvl8pPr>
            <a:lvl9pPr>
              <a:defRPr sz="78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20243" y="5740402"/>
            <a:ext cx="12634915" cy="18764252"/>
          </a:xfrm>
        </p:spPr>
        <p:txBody>
          <a:bodyPr/>
          <a:lstStyle>
            <a:lvl1pPr marL="0" indent="0">
              <a:buNone/>
              <a:defRPr sz="5550"/>
            </a:lvl1pPr>
            <a:lvl2pPr marL="1802660" indent="0">
              <a:buNone/>
              <a:defRPr sz="4725"/>
            </a:lvl2pPr>
            <a:lvl3pPr marL="3605319" indent="0">
              <a:buNone/>
              <a:defRPr sz="3975"/>
            </a:lvl3pPr>
            <a:lvl4pPr marL="5407979" indent="0">
              <a:buNone/>
              <a:defRPr sz="3525"/>
            </a:lvl4pPr>
            <a:lvl5pPr marL="7210638" indent="0">
              <a:buNone/>
              <a:defRPr sz="3525"/>
            </a:lvl5pPr>
            <a:lvl6pPr marL="9013298" indent="0">
              <a:buNone/>
              <a:defRPr sz="3525"/>
            </a:lvl6pPr>
            <a:lvl7pPr marL="10815958" indent="0">
              <a:buNone/>
              <a:defRPr sz="3525"/>
            </a:lvl7pPr>
            <a:lvl8pPr marL="12618617" indent="0">
              <a:buNone/>
              <a:defRPr sz="3525"/>
            </a:lvl8pPr>
            <a:lvl9pPr marL="14421277" indent="0">
              <a:buNone/>
              <a:defRPr sz="3525"/>
            </a:lvl9pPr>
          </a:lstStyle>
          <a:p>
            <a:pPr lvl="0"/>
            <a:r>
              <a:rPr lang="en-US"/>
              <a:t>Click to edit Master text styles</a:t>
            </a:r>
          </a:p>
        </p:txBody>
      </p:sp>
      <p:sp>
        <p:nvSpPr>
          <p:cNvPr id="5" name="Date Placeholder 4"/>
          <p:cNvSpPr>
            <a:spLocks noGrp="1"/>
          </p:cNvSpPr>
          <p:nvPr>
            <p:ph type="dt" sz="half" idx="10"/>
          </p:nvPr>
        </p:nvSpPr>
        <p:spPr/>
        <p:txBody>
          <a:bodyPr/>
          <a:lstStyle/>
          <a:p>
            <a:fld id="{8C4EDE25-B486-4D63-BBA9-5F4FD67F9148}" type="datetimeFigureOut">
              <a:rPr lang="en-US" smtClean="0"/>
              <a:t>5/17/22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1891438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610" y="19202400"/>
            <a:ext cx="23042880" cy="2266952"/>
          </a:xfrm>
        </p:spPr>
        <p:txBody>
          <a:bodyPr anchor="b"/>
          <a:lstStyle>
            <a:lvl1pPr algn="l">
              <a:defRPr sz="7875" b="1"/>
            </a:lvl1pPr>
          </a:lstStyle>
          <a:p>
            <a:r>
              <a:rPr lang="en-US"/>
              <a:t>Click to edit Master title style</a:t>
            </a:r>
          </a:p>
        </p:txBody>
      </p:sp>
      <p:sp>
        <p:nvSpPr>
          <p:cNvPr id="3" name="Picture Placeholder 2"/>
          <p:cNvSpPr>
            <a:spLocks noGrp="1"/>
          </p:cNvSpPr>
          <p:nvPr>
            <p:ph type="pic" idx="1"/>
          </p:nvPr>
        </p:nvSpPr>
        <p:spPr>
          <a:xfrm>
            <a:off x="7527610" y="2451100"/>
            <a:ext cx="23042880" cy="16459200"/>
          </a:xfrm>
        </p:spPr>
        <p:txBody>
          <a:bodyPr/>
          <a:lstStyle>
            <a:lvl1pPr marL="0" indent="0">
              <a:buNone/>
              <a:defRPr sz="12600"/>
            </a:lvl1pPr>
            <a:lvl2pPr marL="1802660" indent="0">
              <a:buNone/>
              <a:defRPr sz="11025"/>
            </a:lvl2pPr>
            <a:lvl3pPr marL="3605319" indent="0">
              <a:buNone/>
              <a:defRPr sz="9450"/>
            </a:lvl3pPr>
            <a:lvl4pPr marL="5407979" indent="0">
              <a:buNone/>
              <a:defRPr sz="7875"/>
            </a:lvl4pPr>
            <a:lvl5pPr marL="7210638" indent="0">
              <a:buNone/>
              <a:defRPr sz="7875"/>
            </a:lvl5pPr>
            <a:lvl6pPr marL="9013298" indent="0">
              <a:buNone/>
              <a:defRPr sz="7875"/>
            </a:lvl6pPr>
            <a:lvl7pPr marL="10815958" indent="0">
              <a:buNone/>
              <a:defRPr sz="7875"/>
            </a:lvl7pPr>
            <a:lvl8pPr marL="12618617" indent="0">
              <a:buNone/>
              <a:defRPr sz="7875"/>
            </a:lvl8pPr>
            <a:lvl9pPr marL="14421277" indent="0">
              <a:buNone/>
              <a:defRPr sz="7875"/>
            </a:lvl9pPr>
          </a:lstStyle>
          <a:p>
            <a:endParaRPr lang="en-US"/>
          </a:p>
        </p:txBody>
      </p:sp>
      <p:sp>
        <p:nvSpPr>
          <p:cNvPr id="4" name="Text Placeholder 3"/>
          <p:cNvSpPr>
            <a:spLocks noGrp="1"/>
          </p:cNvSpPr>
          <p:nvPr>
            <p:ph type="body" sz="half" idx="2"/>
          </p:nvPr>
        </p:nvSpPr>
        <p:spPr>
          <a:xfrm>
            <a:off x="7527610" y="21469352"/>
            <a:ext cx="23042880" cy="3219448"/>
          </a:xfrm>
        </p:spPr>
        <p:txBody>
          <a:bodyPr/>
          <a:lstStyle>
            <a:lvl1pPr marL="0" indent="0">
              <a:buNone/>
              <a:defRPr sz="5550"/>
            </a:lvl1pPr>
            <a:lvl2pPr marL="1802660" indent="0">
              <a:buNone/>
              <a:defRPr sz="4725"/>
            </a:lvl2pPr>
            <a:lvl3pPr marL="3605319" indent="0">
              <a:buNone/>
              <a:defRPr sz="3975"/>
            </a:lvl3pPr>
            <a:lvl4pPr marL="5407979" indent="0">
              <a:buNone/>
              <a:defRPr sz="3525"/>
            </a:lvl4pPr>
            <a:lvl5pPr marL="7210638" indent="0">
              <a:buNone/>
              <a:defRPr sz="3525"/>
            </a:lvl5pPr>
            <a:lvl6pPr marL="9013298" indent="0">
              <a:buNone/>
              <a:defRPr sz="3525"/>
            </a:lvl6pPr>
            <a:lvl7pPr marL="10815958" indent="0">
              <a:buNone/>
              <a:defRPr sz="3525"/>
            </a:lvl7pPr>
            <a:lvl8pPr marL="12618617" indent="0">
              <a:buNone/>
              <a:defRPr sz="3525"/>
            </a:lvl8pPr>
            <a:lvl9pPr marL="14421277" indent="0">
              <a:buNone/>
              <a:defRPr sz="3525"/>
            </a:lvl9pPr>
          </a:lstStyle>
          <a:p>
            <a:pPr lvl="0"/>
            <a:r>
              <a:rPr lang="en-US"/>
              <a:t>Click to edit Master text styles</a:t>
            </a:r>
          </a:p>
        </p:txBody>
      </p:sp>
      <p:sp>
        <p:nvSpPr>
          <p:cNvPr id="5" name="Date Placeholder 4"/>
          <p:cNvSpPr>
            <a:spLocks noGrp="1"/>
          </p:cNvSpPr>
          <p:nvPr>
            <p:ph type="dt" sz="half" idx="10"/>
          </p:nvPr>
        </p:nvSpPr>
        <p:spPr/>
        <p:txBody>
          <a:bodyPr/>
          <a:lstStyle/>
          <a:p>
            <a:fld id="{8C4EDE25-B486-4D63-BBA9-5F4FD67F9148}" type="datetimeFigureOut">
              <a:rPr lang="en-US" smtClean="0"/>
              <a:t>5/17/22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1123265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EDE25-B486-4D63-BBA9-5F4FD67F9148}" type="datetimeFigureOut">
              <a:rPr lang="en-US" smtClean="0"/>
              <a:t>5/17/22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2402800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926155" y="5270500"/>
            <a:ext cx="48386050" cy="11235055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754683" y="5270500"/>
            <a:ext cx="144531395" cy="1123505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EDE25-B486-4D63-BBA9-5F4FD67F9148}" type="datetimeFigureOut">
              <a:rPr lang="en-US" smtClean="0"/>
              <a:t>5/17/22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E43E8-809D-4F42-9630-9E365DEC3D8D}" type="slidenum">
              <a:rPr lang="en-US" smtClean="0"/>
              <a:t>‹#›</a:t>
            </a:fld>
            <a:endParaRPr lang="en-US"/>
          </a:p>
        </p:txBody>
      </p:sp>
    </p:spTree>
    <p:extLst>
      <p:ext uri="{BB962C8B-B14F-4D97-AF65-F5344CB8AC3E}">
        <p14:creationId xmlns:p14="http://schemas.microsoft.com/office/powerpoint/2010/main" val="2276525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1098552"/>
            <a:ext cx="34564320" cy="4572000"/>
          </a:xfrm>
          <a:prstGeom prst="rect">
            <a:avLst/>
          </a:prstGeom>
        </p:spPr>
        <p:txBody>
          <a:bodyPr vert="horz" lIns="480709" tIns="240355" rIns="480709" bIns="240355" rtlCol="0" anchor="ctr">
            <a:normAutofit/>
          </a:bodyPr>
          <a:lstStyle/>
          <a:p>
            <a:r>
              <a:rPr lang="en-US"/>
              <a:t>Click to edit Master title style</a:t>
            </a:r>
          </a:p>
        </p:txBody>
      </p:sp>
      <p:sp>
        <p:nvSpPr>
          <p:cNvPr id="3" name="Text Placeholder 2"/>
          <p:cNvSpPr>
            <a:spLocks noGrp="1"/>
          </p:cNvSpPr>
          <p:nvPr>
            <p:ph type="body" idx="1"/>
          </p:nvPr>
        </p:nvSpPr>
        <p:spPr>
          <a:xfrm>
            <a:off x="1920240" y="6400802"/>
            <a:ext cx="34564320" cy="18103852"/>
          </a:xfrm>
          <a:prstGeom prst="rect">
            <a:avLst/>
          </a:prstGeom>
        </p:spPr>
        <p:txBody>
          <a:bodyPr vert="horz" lIns="480709" tIns="240355" rIns="480709" bIns="24035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920240" y="25425402"/>
            <a:ext cx="8961120" cy="1460500"/>
          </a:xfrm>
          <a:prstGeom prst="rect">
            <a:avLst/>
          </a:prstGeom>
        </p:spPr>
        <p:txBody>
          <a:bodyPr vert="horz" lIns="480709" tIns="240355" rIns="480709" bIns="240355" rtlCol="0" anchor="ctr"/>
          <a:lstStyle>
            <a:lvl1pPr algn="l">
              <a:defRPr sz="4725">
                <a:solidFill>
                  <a:schemeClr val="tx1">
                    <a:tint val="75000"/>
                  </a:schemeClr>
                </a:solidFill>
              </a:defRPr>
            </a:lvl1pPr>
          </a:lstStyle>
          <a:p>
            <a:fld id="{8C4EDE25-B486-4D63-BBA9-5F4FD67F9148}" type="datetimeFigureOut">
              <a:rPr lang="en-US" smtClean="0"/>
              <a:t>5/17/22</a:t>
            </a:fld>
            <a:endParaRPr lang="en-US"/>
          </a:p>
        </p:txBody>
      </p:sp>
      <p:sp>
        <p:nvSpPr>
          <p:cNvPr id="5" name="Footer Placeholder 4"/>
          <p:cNvSpPr>
            <a:spLocks noGrp="1"/>
          </p:cNvSpPr>
          <p:nvPr>
            <p:ph type="ftr" sz="quarter" idx="3"/>
          </p:nvPr>
        </p:nvSpPr>
        <p:spPr>
          <a:xfrm>
            <a:off x="13121640" y="25425402"/>
            <a:ext cx="12161520" cy="1460500"/>
          </a:xfrm>
          <a:prstGeom prst="rect">
            <a:avLst/>
          </a:prstGeom>
        </p:spPr>
        <p:txBody>
          <a:bodyPr vert="horz" lIns="480709" tIns="240355" rIns="480709" bIns="240355" rtlCol="0" anchor="ctr"/>
          <a:lstStyle>
            <a:lvl1pPr algn="ctr">
              <a:defRPr sz="472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523440" y="25425402"/>
            <a:ext cx="8961120" cy="1460500"/>
          </a:xfrm>
          <a:prstGeom prst="rect">
            <a:avLst/>
          </a:prstGeom>
        </p:spPr>
        <p:txBody>
          <a:bodyPr vert="horz" lIns="480709" tIns="240355" rIns="480709" bIns="240355" rtlCol="0" anchor="ctr"/>
          <a:lstStyle>
            <a:lvl1pPr algn="r">
              <a:defRPr sz="4725">
                <a:solidFill>
                  <a:schemeClr val="tx1">
                    <a:tint val="75000"/>
                  </a:schemeClr>
                </a:solidFill>
              </a:defRPr>
            </a:lvl1pPr>
          </a:lstStyle>
          <a:p>
            <a:fld id="{2A3E43E8-809D-4F42-9630-9E365DEC3D8D}" type="slidenum">
              <a:rPr lang="en-US" smtClean="0"/>
              <a:t>‹#›</a:t>
            </a:fld>
            <a:endParaRPr lang="en-US"/>
          </a:p>
        </p:txBody>
      </p:sp>
    </p:spTree>
    <p:extLst>
      <p:ext uri="{BB962C8B-B14F-4D97-AF65-F5344CB8AC3E}">
        <p14:creationId xmlns:p14="http://schemas.microsoft.com/office/powerpoint/2010/main" val="683549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605319" rtl="0" eaLnBrk="1" latinLnBrk="0" hangingPunct="1">
        <a:spcBef>
          <a:spcPct val="0"/>
        </a:spcBef>
        <a:buNone/>
        <a:defRPr sz="17325" kern="1200">
          <a:solidFill>
            <a:schemeClr val="tx1"/>
          </a:solidFill>
          <a:latin typeface="+mj-lt"/>
          <a:ea typeface="+mj-ea"/>
          <a:cs typeface="+mj-cs"/>
        </a:defRPr>
      </a:lvl1pPr>
    </p:titleStyle>
    <p:bodyStyle>
      <a:lvl1pPr marL="1351995" indent="-1351995" algn="l" defTabSz="3605319" rtl="0" eaLnBrk="1" latinLnBrk="0" hangingPunct="1">
        <a:spcBef>
          <a:spcPct val="20000"/>
        </a:spcBef>
        <a:buFont typeface="Arial" panose="020B0604020202020204" pitchFamily="34" charset="0"/>
        <a:buChar char="•"/>
        <a:defRPr sz="12600" kern="1200">
          <a:solidFill>
            <a:schemeClr val="tx1"/>
          </a:solidFill>
          <a:latin typeface="+mn-lt"/>
          <a:ea typeface="+mn-ea"/>
          <a:cs typeface="+mn-cs"/>
        </a:defRPr>
      </a:lvl1pPr>
      <a:lvl2pPr marL="2929322" indent="-1126662" algn="l" defTabSz="3605319" rtl="0" eaLnBrk="1" latinLnBrk="0" hangingPunct="1">
        <a:spcBef>
          <a:spcPct val="20000"/>
        </a:spcBef>
        <a:buFont typeface="Arial" panose="020B0604020202020204" pitchFamily="34" charset="0"/>
        <a:buChar char="–"/>
        <a:defRPr sz="11025" kern="1200">
          <a:solidFill>
            <a:schemeClr val="tx1"/>
          </a:solidFill>
          <a:latin typeface="+mn-lt"/>
          <a:ea typeface="+mn-ea"/>
          <a:cs typeface="+mn-cs"/>
        </a:defRPr>
      </a:lvl2pPr>
      <a:lvl3pPr marL="4506649" indent="-901330" algn="l" defTabSz="3605319" rtl="0" eaLnBrk="1" latinLnBrk="0" hangingPunct="1">
        <a:spcBef>
          <a:spcPct val="20000"/>
        </a:spcBef>
        <a:buFont typeface="Arial" panose="020B0604020202020204" pitchFamily="34" charset="0"/>
        <a:buChar char="•"/>
        <a:defRPr sz="9450" kern="1200">
          <a:solidFill>
            <a:schemeClr val="tx1"/>
          </a:solidFill>
          <a:latin typeface="+mn-lt"/>
          <a:ea typeface="+mn-ea"/>
          <a:cs typeface="+mn-cs"/>
        </a:defRPr>
      </a:lvl3pPr>
      <a:lvl4pPr marL="6309308" indent="-901330" algn="l" defTabSz="3605319" rtl="0" eaLnBrk="1" latinLnBrk="0" hangingPunct="1">
        <a:spcBef>
          <a:spcPct val="20000"/>
        </a:spcBef>
        <a:buFont typeface="Arial" panose="020B0604020202020204" pitchFamily="34" charset="0"/>
        <a:buChar char="–"/>
        <a:defRPr sz="7875" kern="1200">
          <a:solidFill>
            <a:schemeClr val="tx1"/>
          </a:solidFill>
          <a:latin typeface="+mn-lt"/>
          <a:ea typeface="+mn-ea"/>
          <a:cs typeface="+mn-cs"/>
        </a:defRPr>
      </a:lvl4pPr>
      <a:lvl5pPr marL="8111969" indent="-901330" algn="l" defTabSz="3605319" rtl="0" eaLnBrk="1" latinLnBrk="0" hangingPunct="1">
        <a:spcBef>
          <a:spcPct val="20000"/>
        </a:spcBef>
        <a:buFont typeface="Arial" panose="020B0604020202020204" pitchFamily="34" charset="0"/>
        <a:buChar char="»"/>
        <a:defRPr sz="7875" kern="1200">
          <a:solidFill>
            <a:schemeClr val="tx1"/>
          </a:solidFill>
          <a:latin typeface="+mn-lt"/>
          <a:ea typeface="+mn-ea"/>
          <a:cs typeface="+mn-cs"/>
        </a:defRPr>
      </a:lvl5pPr>
      <a:lvl6pPr marL="9914628" indent="-901330" algn="l" defTabSz="3605319" rtl="0" eaLnBrk="1" latinLnBrk="0" hangingPunct="1">
        <a:spcBef>
          <a:spcPct val="20000"/>
        </a:spcBef>
        <a:buFont typeface="Arial" panose="020B0604020202020204" pitchFamily="34" charset="0"/>
        <a:buChar char="•"/>
        <a:defRPr sz="7875" kern="1200">
          <a:solidFill>
            <a:schemeClr val="tx1"/>
          </a:solidFill>
          <a:latin typeface="+mn-lt"/>
          <a:ea typeface="+mn-ea"/>
          <a:cs typeface="+mn-cs"/>
        </a:defRPr>
      </a:lvl6pPr>
      <a:lvl7pPr marL="11717288" indent="-901330" algn="l" defTabSz="3605319" rtl="0" eaLnBrk="1" latinLnBrk="0" hangingPunct="1">
        <a:spcBef>
          <a:spcPct val="20000"/>
        </a:spcBef>
        <a:buFont typeface="Arial" panose="020B0604020202020204" pitchFamily="34" charset="0"/>
        <a:buChar char="•"/>
        <a:defRPr sz="7875" kern="1200">
          <a:solidFill>
            <a:schemeClr val="tx1"/>
          </a:solidFill>
          <a:latin typeface="+mn-lt"/>
          <a:ea typeface="+mn-ea"/>
          <a:cs typeface="+mn-cs"/>
        </a:defRPr>
      </a:lvl7pPr>
      <a:lvl8pPr marL="13519947" indent="-901330" algn="l" defTabSz="3605319" rtl="0" eaLnBrk="1" latinLnBrk="0" hangingPunct="1">
        <a:spcBef>
          <a:spcPct val="20000"/>
        </a:spcBef>
        <a:buFont typeface="Arial" panose="020B0604020202020204" pitchFamily="34" charset="0"/>
        <a:buChar char="•"/>
        <a:defRPr sz="7875" kern="1200">
          <a:solidFill>
            <a:schemeClr val="tx1"/>
          </a:solidFill>
          <a:latin typeface="+mn-lt"/>
          <a:ea typeface="+mn-ea"/>
          <a:cs typeface="+mn-cs"/>
        </a:defRPr>
      </a:lvl8pPr>
      <a:lvl9pPr marL="15322607" indent="-901330" algn="l" defTabSz="3605319" rtl="0" eaLnBrk="1" latinLnBrk="0" hangingPunct="1">
        <a:spcBef>
          <a:spcPct val="20000"/>
        </a:spcBef>
        <a:buFont typeface="Arial" panose="020B0604020202020204" pitchFamily="34" charset="0"/>
        <a:buChar char="•"/>
        <a:defRPr sz="7875" kern="1200">
          <a:solidFill>
            <a:schemeClr val="tx1"/>
          </a:solidFill>
          <a:latin typeface="+mn-lt"/>
          <a:ea typeface="+mn-ea"/>
          <a:cs typeface="+mn-cs"/>
        </a:defRPr>
      </a:lvl9pPr>
    </p:bodyStyle>
    <p:otherStyle>
      <a:defPPr>
        <a:defRPr lang="en-US"/>
      </a:defPPr>
      <a:lvl1pPr marL="0" algn="l" defTabSz="3605319" rtl="0" eaLnBrk="1" latinLnBrk="0" hangingPunct="1">
        <a:defRPr sz="7125" kern="1200">
          <a:solidFill>
            <a:schemeClr val="tx1"/>
          </a:solidFill>
          <a:latin typeface="+mn-lt"/>
          <a:ea typeface="+mn-ea"/>
          <a:cs typeface="+mn-cs"/>
        </a:defRPr>
      </a:lvl1pPr>
      <a:lvl2pPr marL="1802660" algn="l" defTabSz="3605319" rtl="0" eaLnBrk="1" latinLnBrk="0" hangingPunct="1">
        <a:defRPr sz="7125" kern="1200">
          <a:solidFill>
            <a:schemeClr val="tx1"/>
          </a:solidFill>
          <a:latin typeface="+mn-lt"/>
          <a:ea typeface="+mn-ea"/>
          <a:cs typeface="+mn-cs"/>
        </a:defRPr>
      </a:lvl2pPr>
      <a:lvl3pPr marL="3605319" algn="l" defTabSz="3605319" rtl="0" eaLnBrk="1" latinLnBrk="0" hangingPunct="1">
        <a:defRPr sz="7125" kern="1200">
          <a:solidFill>
            <a:schemeClr val="tx1"/>
          </a:solidFill>
          <a:latin typeface="+mn-lt"/>
          <a:ea typeface="+mn-ea"/>
          <a:cs typeface="+mn-cs"/>
        </a:defRPr>
      </a:lvl3pPr>
      <a:lvl4pPr marL="5407979" algn="l" defTabSz="3605319" rtl="0" eaLnBrk="1" latinLnBrk="0" hangingPunct="1">
        <a:defRPr sz="7125" kern="1200">
          <a:solidFill>
            <a:schemeClr val="tx1"/>
          </a:solidFill>
          <a:latin typeface="+mn-lt"/>
          <a:ea typeface="+mn-ea"/>
          <a:cs typeface="+mn-cs"/>
        </a:defRPr>
      </a:lvl4pPr>
      <a:lvl5pPr marL="7210638" algn="l" defTabSz="3605319" rtl="0" eaLnBrk="1" latinLnBrk="0" hangingPunct="1">
        <a:defRPr sz="7125" kern="1200">
          <a:solidFill>
            <a:schemeClr val="tx1"/>
          </a:solidFill>
          <a:latin typeface="+mn-lt"/>
          <a:ea typeface="+mn-ea"/>
          <a:cs typeface="+mn-cs"/>
        </a:defRPr>
      </a:lvl5pPr>
      <a:lvl6pPr marL="9013298" algn="l" defTabSz="3605319" rtl="0" eaLnBrk="1" latinLnBrk="0" hangingPunct="1">
        <a:defRPr sz="7125" kern="1200">
          <a:solidFill>
            <a:schemeClr val="tx1"/>
          </a:solidFill>
          <a:latin typeface="+mn-lt"/>
          <a:ea typeface="+mn-ea"/>
          <a:cs typeface="+mn-cs"/>
        </a:defRPr>
      </a:lvl6pPr>
      <a:lvl7pPr marL="10815958" algn="l" defTabSz="3605319" rtl="0" eaLnBrk="1" latinLnBrk="0" hangingPunct="1">
        <a:defRPr sz="7125" kern="1200">
          <a:solidFill>
            <a:schemeClr val="tx1"/>
          </a:solidFill>
          <a:latin typeface="+mn-lt"/>
          <a:ea typeface="+mn-ea"/>
          <a:cs typeface="+mn-cs"/>
        </a:defRPr>
      </a:lvl7pPr>
      <a:lvl8pPr marL="12618617" algn="l" defTabSz="3605319" rtl="0" eaLnBrk="1" latinLnBrk="0" hangingPunct="1">
        <a:defRPr sz="7125" kern="1200">
          <a:solidFill>
            <a:schemeClr val="tx1"/>
          </a:solidFill>
          <a:latin typeface="+mn-lt"/>
          <a:ea typeface="+mn-ea"/>
          <a:cs typeface="+mn-cs"/>
        </a:defRPr>
      </a:lvl8pPr>
      <a:lvl9pPr marL="14421277" algn="l" defTabSz="3605319" rtl="0" eaLnBrk="1" latinLnBrk="0" hangingPunct="1">
        <a:defRPr sz="7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7"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228600" y="1600201"/>
            <a:ext cx="37924979" cy="3506390"/>
          </a:xfrm>
          <a:prstGeom prst="rect">
            <a:avLst/>
          </a:prstGeom>
          <a:solidFill>
            <a:schemeClr val="tx1">
              <a:lumMod val="50000"/>
              <a:lumOff val="50000"/>
            </a:schemeClr>
          </a:solidFill>
          <a:ln w="9525" cap="flat" cmpd="sng" algn="ctr">
            <a:solidFill>
              <a:schemeClr val="accent5">
                <a:lumMod val="50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1645444" fontAlgn="base">
              <a:spcBef>
                <a:spcPct val="0"/>
              </a:spcBef>
              <a:spcAft>
                <a:spcPct val="0"/>
              </a:spcAft>
            </a:pPr>
            <a:endParaRPr lang="en-US" sz="7950" dirty="0">
              <a:solidFill>
                <a:schemeClr val="tx2"/>
              </a:solidFill>
              <a:latin typeface="Arial" pitchFamily="34" charset="0"/>
            </a:endParaRPr>
          </a:p>
        </p:txBody>
      </p:sp>
      <p:sp>
        <p:nvSpPr>
          <p:cNvPr id="5" name="Rectangle 2"/>
          <p:cNvSpPr txBox="1">
            <a:spLocks noChangeArrowheads="1"/>
          </p:cNvSpPr>
          <p:nvPr/>
        </p:nvSpPr>
        <p:spPr bwMode="auto">
          <a:xfrm>
            <a:off x="4057650" y="1402220"/>
            <a:ext cx="30599402" cy="2628900"/>
          </a:xfrm>
          <a:prstGeom prst="rect">
            <a:avLst/>
          </a:prstGeom>
          <a:no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vert="horz" wrap="square" lIns="68558" tIns="34280" rIns="68558" bIns="34280" numCol="1" rtlCol="0" anchor="ctr" anchorCtr="0" compatLnSpc="1">
            <a:prstTxWarp prst="textNoShape">
              <a:avLst/>
            </a:prstTxWarp>
            <a:noAutofit/>
          </a:bodyPr>
          <a:lstStyle>
            <a:lvl1pPr algn="ctr" defTabSz="4807092" rtl="0" eaLnBrk="1" latinLnBrk="0" hangingPunct="1">
              <a:spcBef>
                <a:spcPct val="0"/>
              </a:spcBef>
              <a:buNone/>
              <a:defRPr sz="231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4950" b="1" dirty="0"/>
              <a:t>Bridge-Group: An Opt-In Recitation Section to Facilitate the Transition from CS1 to CS2</a:t>
            </a:r>
            <a:endParaRPr lang="en-US" sz="4950" b="1" dirty="0">
              <a:solidFill>
                <a:schemeClr val="tx2">
                  <a:lumMod val="20000"/>
                  <a:lumOff val="80000"/>
                </a:schemeClr>
              </a:solidFill>
              <a:latin typeface="Corbel" panose="020B0503020204020204" pitchFamily="34" charset="0"/>
            </a:endParaRPr>
          </a:p>
        </p:txBody>
      </p:sp>
      <p:sp>
        <p:nvSpPr>
          <p:cNvPr id="6" name="TextBox 5"/>
          <p:cNvSpPr txBox="1"/>
          <p:nvPr/>
        </p:nvSpPr>
        <p:spPr>
          <a:xfrm>
            <a:off x="5537419" y="3325979"/>
            <a:ext cx="28815863" cy="2342949"/>
          </a:xfrm>
          <a:prstGeom prst="rect">
            <a:avLst/>
          </a:prstGeom>
          <a:noFill/>
        </p:spPr>
        <p:txBody>
          <a:bodyPr wrap="square" rtlCol="0">
            <a:spAutoFit/>
          </a:bodyPr>
          <a:lstStyle/>
          <a:p>
            <a:pPr algn="ctr"/>
            <a:r>
              <a:rPr lang="en-US" sz="3600" dirty="0"/>
              <a:t> </a:t>
            </a:r>
            <a:endParaRPr lang="en-US" sz="3600" dirty="0">
              <a:solidFill>
                <a:schemeClr val="bg1"/>
              </a:solidFill>
            </a:endParaRPr>
          </a:p>
          <a:p>
            <a:pPr algn="ctr"/>
            <a:r>
              <a:rPr lang="en-US" sz="3600" dirty="0">
                <a:solidFill>
                  <a:schemeClr val="bg1"/>
                </a:solidFill>
              </a:rPr>
              <a:t> Emma Gurcan, James Bowden, Adam Blank</a:t>
            </a:r>
          </a:p>
          <a:p>
            <a:pPr algn="ctr"/>
            <a:r>
              <a:rPr lang="en-US" sz="3375" dirty="0">
                <a:solidFill>
                  <a:srgbClr val="CCECFF"/>
                </a:solidFill>
                <a:latin typeface="Corbel" panose="020B0503020204020204" pitchFamily="34" charset="0"/>
              </a:rPr>
              <a:t>California Institute of  Technology, Department of Computing and Mathematical Sciences </a:t>
            </a:r>
          </a:p>
          <a:p>
            <a:pPr algn="ctr"/>
            <a:endParaRPr lang="en-US" sz="4050" dirty="0">
              <a:solidFill>
                <a:srgbClr val="CCECFF"/>
              </a:solidFill>
              <a:latin typeface="Corbel" panose="020B0503020204020204" pitchFamily="34" charset="0"/>
            </a:endParaRPr>
          </a:p>
        </p:txBody>
      </p:sp>
      <p:sp>
        <p:nvSpPr>
          <p:cNvPr id="14" name="TextBox 13"/>
          <p:cNvSpPr txBox="1"/>
          <p:nvPr/>
        </p:nvSpPr>
        <p:spPr>
          <a:xfrm>
            <a:off x="228601" y="5294608"/>
            <a:ext cx="11973561" cy="900246"/>
          </a:xfrm>
          <a:prstGeom prst="rect">
            <a:avLst/>
          </a:prstGeom>
          <a:solidFill>
            <a:srgbClr val="F68E06"/>
          </a:solidFill>
        </p:spPr>
        <p:txBody>
          <a:bodyPr wrap="square" rtlCol="0">
            <a:spAutoFit/>
          </a:bodyPr>
          <a:lstStyle/>
          <a:p>
            <a:pPr algn="ctr"/>
            <a:r>
              <a:rPr lang="en-US" sz="5250" b="1" dirty="0">
                <a:solidFill>
                  <a:schemeClr val="bg1"/>
                </a:solidFill>
                <a:latin typeface="Corbel" panose="020B0503020204020204" pitchFamily="34" charset="0"/>
              </a:rPr>
              <a:t>Background</a:t>
            </a:r>
          </a:p>
        </p:txBody>
      </p:sp>
      <p:sp>
        <p:nvSpPr>
          <p:cNvPr id="15" name="TextBox 14"/>
          <p:cNvSpPr txBox="1"/>
          <p:nvPr/>
        </p:nvSpPr>
        <p:spPr>
          <a:xfrm>
            <a:off x="12953999" y="5293304"/>
            <a:ext cx="25143077" cy="900246"/>
          </a:xfrm>
          <a:prstGeom prst="rect">
            <a:avLst/>
          </a:prstGeom>
          <a:solidFill>
            <a:srgbClr val="F68E06"/>
          </a:solidFill>
        </p:spPr>
        <p:txBody>
          <a:bodyPr wrap="square" rtlCol="0">
            <a:spAutoFit/>
          </a:bodyPr>
          <a:lstStyle/>
          <a:p>
            <a:pPr algn="ctr"/>
            <a:r>
              <a:rPr lang="en-US" sz="5250" b="1" dirty="0">
                <a:solidFill>
                  <a:schemeClr val="bg1"/>
                </a:solidFill>
                <a:latin typeface="Corbel" panose="020B0503020204020204" pitchFamily="34" charset="0"/>
              </a:rPr>
              <a:t>Results</a:t>
            </a:r>
          </a:p>
        </p:txBody>
      </p:sp>
      <p:sp>
        <p:nvSpPr>
          <p:cNvPr id="18" name="TextBox 17"/>
          <p:cNvSpPr txBox="1"/>
          <p:nvPr/>
        </p:nvSpPr>
        <p:spPr>
          <a:xfrm>
            <a:off x="254565" y="10336080"/>
            <a:ext cx="11962311" cy="923330"/>
          </a:xfrm>
          <a:prstGeom prst="rect">
            <a:avLst/>
          </a:prstGeom>
          <a:solidFill>
            <a:srgbClr val="F68E06"/>
          </a:solidFill>
        </p:spPr>
        <p:txBody>
          <a:bodyPr wrap="square" rtlCol="0">
            <a:spAutoFit/>
          </a:bodyPr>
          <a:lstStyle/>
          <a:p>
            <a:pPr algn="ctr"/>
            <a:r>
              <a:rPr lang="en-US" sz="5400" b="1" dirty="0">
                <a:solidFill>
                  <a:schemeClr val="bg1"/>
                </a:solidFill>
                <a:latin typeface="Corbel" panose="020B0503020204020204" pitchFamily="34" charset="0"/>
              </a:rPr>
              <a:t>Methods</a:t>
            </a:r>
          </a:p>
        </p:txBody>
      </p:sp>
      <p:sp>
        <p:nvSpPr>
          <p:cNvPr id="20" name="TextBox 19"/>
          <p:cNvSpPr txBox="1"/>
          <p:nvPr/>
        </p:nvSpPr>
        <p:spPr>
          <a:xfrm>
            <a:off x="26324715" y="21030570"/>
            <a:ext cx="11768390" cy="923330"/>
          </a:xfrm>
          <a:prstGeom prst="rect">
            <a:avLst/>
          </a:prstGeom>
          <a:solidFill>
            <a:srgbClr val="F68E06"/>
          </a:solidFill>
        </p:spPr>
        <p:txBody>
          <a:bodyPr wrap="square" rtlCol="0">
            <a:spAutoFit/>
          </a:bodyPr>
          <a:lstStyle/>
          <a:p>
            <a:pPr algn="ctr"/>
            <a:r>
              <a:rPr lang="en-US" sz="5400" b="1" dirty="0">
                <a:solidFill>
                  <a:schemeClr val="bg1"/>
                </a:solidFill>
                <a:latin typeface="Corbel" panose="020B0503020204020204" pitchFamily="34" charset="0"/>
              </a:rPr>
              <a:t>Conclusion</a:t>
            </a:r>
            <a:endParaRPr lang="en-US" sz="6000" b="1" dirty="0">
              <a:solidFill>
                <a:schemeClr val="bg1"/>
              </a:solidFill>
              <a:latin typeface="Corbel" panose="020B0503020204020204" pitchFamily="34" charset="0"/>
            </a:endParaRPr>
          </a:p>
        </p:txBody>
      </p:sp>
      <p:sp>
        <p:nvSpPr>
          <p:cNvPr id="27" name="TextBox 26"/>
          <p:cNvSpPr txBox="1"/>
          <p:nvPr/>
        </p:nvSpPr>
        <p:spPr>
          <a:xfrm>
            <a:off x="26328688" y="13196417"/>
            <a:ext cx="11856607" cy="900246"/>
          </a:xfrm>
          <a:prstGeom prst="rect">
            <a:avLst/>
          </a:prstGeom>
          <a:solidFill>
            <a:srgbClr val="F68E06"/>
          </a:solidFill>
        </p:spPr>
        <p:txBody>
          <a:bodyPr wrap="square" rtlCol="0">
            <a:spAutoFit/>
          </a:bodyPr>
          <a:lstStyle/>
          <a:p>
            <a:pPr algn="ctr"/>
            <a:r>
              <a:rPr lang="en-US" sz="5250" b="1" dirty="0">
                <a:solidFill>
                  <a:schemeClr val="bg1"/>
                </a:solidFill>
                <a:latin typeface="Corbel" panose="020B0503020204020204" pitchFamily="34" charset="0"/>
              </a:rPr>
              <a:t>Summary</a:t>
            </a:r>
          </a:p>
        </p:txBody>
      </p:sp>
      <p:sp>
        <p:nvSpPr>
          <p:cNvPr id="29" name="TextBox 28"/>
          <p:cNvSpPr txBox="1"/>
          <p:nvPr/>
        </p:nvSpPr>
        <p:spPr>
          <a:xfrm>
            <a:off x="145728" y="25076797"/>
            <a:ext cx="37924978" cy="923330"/>
          </a:xfrm>
          <a:prstGeom prst="rect">
            <a:avLst/>
          </a:prstGeom>
          <a:solidFill>
            <a:schemeClr val="tx1">
              <a:lumMod val="50000"/>
              <a:lumOff val="50000"/>
            </a:schemeClr>
          </a:solidFill>
        </p:spPr>
        <p:txBody>
          <a:bodyPr wrap="square" rtlCol="0">
            <a:spAutoFit/>
          </a:bodyPr>
          <a:lstStyle/>
          <a:p>
            <a:pPr algn="ctr"/>
            <a:r>
              <a:rPr lang="en-US" sz="5400" dirty="0">
                <a:solidFill>
                  <a:schemeClr val="bg1"/>
                </a:solidFill>
                <a:latin typeface="Corbel" panose="020B0503020204020204" pitchFamily="34" charset="0"/>
              </a:rPr>
              <a:t>egurcan@caltech.edu</a:t>
            </a:r>
            <a:r>
              <a:rPr lang="en-US" sz="5400" b="1" dirty="0">
                <a:solidFill>
                  <a:schemeClr val="bg1"/>
                </a:solidFill>
                <a:latin typeface="Corbel" panose="020B0503020204020204" pitchFamily="34" charset="0"/>
              </a:rPr>
              <a:t> | </a:t>
            </a:r>
            <a:r>
              <a:rPr lang="en-US" sz="3300" b="1" dirty="0">
                <a:solidFill>
                  <a:schemeClr val="bg1"/>
                </a:solidFill>
                <a:latin typeface="Arial" panose="020B0604020202020204" pitchFamily="34" charset="0"/>
                <a:cs typeface="Arial" panose="020B0604020202020204" pitchFamily="34" charset="0"/>
              </a:rPr>
              <a:t>1200 E. California Blvd, Pasadena, CA, 91126</a:t>
            </a:r>
            <a:endParaRPr lang="en-US" sz="3300" dirty="0">
              <a:solidFill>
                <a:schemeClr val="bg1"/>
              </a:solidFill>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7C0DAAF3-06DD-2546-AB61-D793C5045D94}"/>
              </a:ext>
            </a:extLst>
          </p:cNvPr>
          <p:cNvSpPr txBox="1"/>
          <p:nvPr/>
        </p:nvSpPr>
        <p:spPr>
          <a:xfrm>
            <a:off x="25434068" y="29005399"/>
            <a:ext cx="4683119" cy="323165"/>
          </a:xfrm>
          <a:prstGeom prst="rect">
            <a:avLst/>
          </a:prstGeom>
          <a:noFill/>
        </p:spPr>
        <p:txBody>
          <a:bodyPr wrap="square" rtlCol="0">
            <a:spAutoFit/>
          </a:bodyPr>
          <a:lstStyle/>
          <a:p>
            <a:r>
              <a:rPr lang="en-US" sz="1500" b="1" dirty="0">
                <a:solidFill>
                  <a:schemeClr val="accent4">
                    <a:lumMod val="75000"/>
                  </a:schemeClr>
                </a:solidFill>
              </a:rPr>
              <a:t>C</a:t>
            </a:r>
          </a:p>
        </p:txBody>
      </p:sp>
      <p:sp>
        <p:nvSpPr>
          <p:cNvPr id="322" name="TextBox 321">
            <a:extLst>
              <a:ext uri="{FF2B5EF4-FFF2-40B4-BE49-F238E27FC236}">
                <a16:creationId xmlns:a16="http://schemas.microsoft.com/office/drawing/2014/main" id="{5E4975F9-3C53-2541-90C8-B0F17985E4A6}"/>
              </a:ext>
            </a:extLst>
          </p:cNvPr>
          <p:cNvSpPr txBox="1"/>
          <p:nvPr/>
        </p:nvSpPr>
        <p:spPr>
          <a:xfrm>
            <a:off x="413532" y="6382871"/>
            <a:ext cx="11788630" cy="4833374"/>
          </a:xfrm>
          <a:prstGeom prst="rect">
            <a:avLst/>
          </a:prstGeom>
          <a:noFill/>
        </p:spPr>
        <p:txBody>
          <a:bodyPr wrap="square" lIns="0" tIns="34290" rIns="0" numCol="1" rtlCol="0">
            <a:spAutoFit/>
          </a:bodyPr>
          <a:lstStyle/>
          <a:p>
            <a:pPr algn="just">
              <a:spcAft>
                <a:spcPts val="1350"/>
              </a:spcAft>
            </a:pPr>
            <a:r>
              <a:rPr lang="en-US" sz="2250" dirty="0">
                <a:latin typeface="Helvetica" pitchFamily="34" charset="0"/>
              </a:rPr>
              <a:t>Establishing a supportive community while learning computer science is beneficial for students’ material retention and encourages collaboration.</a:t>
            </a:r>
          </a:p>
          <a:p>
            <a:pPr algn="just">
              <a:spcAft>
                <a:spcPts val="1350"/>
              </a:spcAft>
            </a:pPr>
            <a:r>
              <a:rPr lang="en-US" sz="2250" dirty="0">
                <a:latin typeface="Helvetica" pitchFamily="34" charset="0"/>
              </a:rPr>
              <a:t>CS2 is a demanding intermediate algorithms course where no recitations are offered outside of bridge-group.</a:t>
            </a:r>
          </a:p>
          <a:p>
            <a:pPr algn="just">
              <a:spcAft>
                <a:spcPts val="1350"/>
              </a:spcAft>
            </a:pPr>
            <a:r>
              <a:rPr lang="en-US" sz="2400" b="1" i="1" dirty="0">
                <a:solidFill>
                  <a:srgbClr val="2D467F"/>
                </a:solidFill>
                <a:latin typeface="Corbel" panose="020B0503020204020204" pitchFamily="34" charset="0"/>
              </a:rPr>
              <a:t>Objective:</a:t>
            </a:r>
            <a:r>
              <a:rPr lang="en-US" sz="2250" dirty="0">
                <a:latin typeface="Helvetica" pitchFamily="34" charset="0"/>
                <a:cs typeface="Helvetica" pitchFamily="34" charset="0"/>
              </a:rPr>
              <a:t> To provide a collaborative and positive support system to aid in disadvantaged students' transition from CS1 to CS2 while promoting DEI.</a:t>
            </a:r>
          </a:p>
          <a:p>
            <a:pPr algn="just">
              <a:spcAft>
                <a:spcPts val="1350"/>
              </a:spcAft>
            </a:pPr>
            <a:r>
              <a:rPr lang="en-US" sz="2400" b="1" i="1" dirty="0">
                <a:solidFill>
                  <a:srgbClr val="2D467F"/>
                </a:solidFill>
                <a:latin typeface="Corbel" panose="020B0503020204020204" pitchFamily="34" charset="0"/>
              </a:rPr>
              <a:t>Implementation: </a:t>
            </a:r>
            <a:r>
              <a:rPr lang="en-US" sz="2250" dirty="0">
                <a:latin typeface="Helvetica" pitchFamily="2" charset="0"/>
              </a:rPr>
              <a:t>During CS2, students were monitored during the firsts weeks of the term and offered a spot in bridge-group, giving them the opportunity to attend one hour of specialized recitations and two hours of exclusive office hours.</a:t>
            </a:r>
          </a:p>
          <a:p>
            <a:pPr algn="just">
              <a:spcAft>
                <a:spcPts val="1350"/>
              </a:spcAft>
            </a:pPr>
            <a:endParaRPr lang="en-US" sz="2250" dirty="0">
              <a:latin typeface="Helvetica" pitchFamily="34" charset="0"/>
              <a:cs typeface="Helvetica" pitchFamily="34" charset="0"/>
            </a:endParaRPr>
          </a:p>
          <a:p>
            <a:pPr algn="just">
              <a:spcAft>
                <a:spcPts val="1350"/>
              </a:spcAft>
            </a:pPr>
            <a:endParaRPr lang="en-US" sz="2250" dirty="0">
              <a:latin typeface="Helvetica" pitchFamily="34" charset="0"/>
            </a:endParaRPr>
          </a:p>
        </p:txBody>
      </p:sp>
      <p:sp>
        <p:nvSpPr>
          <p:cNvPr id="346" name="Rectangle 345">
            <a:extLst>
              <a:ext uri="{FF2B5EF4-FFF2-40B4-BE49-F238E27FC236}">
                <a16:creationId xmlns:a16="http://schemas.microsoft.com/office/drawing/2014/main" id="{225D2FB4-A237-A144-B155-E45FEB380FAF}"/>
              </a:ext>
            </a:extLst>
          </p:cNvPr>
          <p:cNvSpPr/>
          <p:nvPr/>
        </p:nvSpPr>
        <p:spPr>
          <a:xfrm>
            <a:off x="291455" y="11362335"/>
            <a:ext cx="11788631" cy="13924325"/>
          </a:xfrm>
          <a:prstGeom prst="rect">
            <a:avLst/>
          </a:prstGeom>
        </p:spPr>
        <p:txBody>
          <a:bodyPr wrap="square" lIns="0" rIns="0">
            <a:spAutoFit/>
          </a:bodyPr>
          <a:lstStyle/>
          <a:p>
            <a:pPr algn="just"/>
            <a:r>
              <a:rPr lang="en-US" sz="2400" b="1" i="1" dirty="0">
                <a:solidFill>
                  <a:srgbClr val="2D467F"/>
                </a:solidFill>
                <a:latin typeface="Corbel" panose="020B0503020204020204" pitchFamily="34" charset="0"/>
              </a:rPr>
              <a:t>Population: </a:t>
            </a:r>
            <a:r>
              <a:rPr lang="en-US" sz="2250" dirty="0">
                <a:latin typeface="Helvetica" pitchFamily="2" charset="0"/>
              </a:rPr>
              <a:t>Demographically, the selected students were primarily women, and some were racial minorities. Students all came from disadvantaged backgrounds with little to no Computer Science experience prior to attending university. </a:t>
            </a:r>
          </a:p>
          <a:p>
            <a:pPr algn="just"/>
            <a:endParaRPr lang="en-US" sz="2400" b="1" i="1" dirty="0">
              <a:solidFill>
                <a:srgbClr val="2D467F"/>
              </a:solidFill>
              <a:latin typeface="Corbel" panose="020B0503020204020204" pitchFamily="34" charset="0"/>
            </a:endParaRPr>
          </a:p>
          <a:p>
            <a:pPr algn="just"/>
            <a:r>
              <a:rPr lang="en-US" sz="2400" b="1" i="1" dirty="0">
                <a:solidFill>
                  <a:srgbClr val="2D467F"/>
                </a:solidFill>
                <a:latin typeface="Corbel" panose="020B0503020204020204" pitchFamily="34" charset="0"/>
              </a:rPr>
              <a:t>Structure: </a:t>
            </a:r>
            <a:r>
              <a:rPr lang="en-US" sz="2250" dirty="0">
                <a:latin typeface="Helvetica" pitchFamily="34" charset="0"/>
                <a:cs typeface="Helvetica" pitchFamily="34" charset="0"/>
              </a:rPr>
              <a:t>Bridge-group offered one hour of recitation and two hours office hours </a:t>
            </a:r>
            <a:r>
              <a:rPr lang="en-US" sz="2250" dirty="0">
                <a:latin typeface="Helvetica" pitchFamily="34" charset="0"/>
              </a:rPr>
              <a:t> (</a:t>
            </a:r>
            <a:r>
              <a:rPr lang="en-US" sz="2250" b="1" i="1" dirty="0">
                <a:solidFill>
                  <a:srgbClr val="2D467F"/>
                </a:solidFill>
                <a:latin typeface="Corbel" panose="020B0503020204020204" pitchFamily="34" charset="0"/>
              </a:rPr>
              <a:t>Figure  1)</a:t>
            </a:r>
            <a:r>
              <a:rPr lang="en-US" sz="2250" dirty="0">
                <a:latin typeface="Helvetica" pitchFamily="34" charset="0"/>
                <a:cs typeface="Helvetica" pitchFamily="34" charset="0"/>
              </a:rPr>
              <a:t>. </a:t>
            </a: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endParaRPr lang="en-US" sz="2250" dirty="0">
              <a:latin typeface="Helvetica" pitchFamily="34" charset="0"/>
              <a:cs typeface="Helvetica" pitchFamily="34" charset="0"/>
            </a:endParaRPr>
          </a:p>
          <a:p>
            <a:pPr algn="just"/>
            <a:r>
              <a:rPr lang="en-US" sz="2250" dirty="0">
                <a:latin typeface="Helvetica" pitchFamily="34" charset="0"/>
                <a:cs typeface="Helvetica" pitchFamily="34" charset="0"/>
              </a:rPr>
              <a:t>Pair programming on projects between members of bridge-group was encouraged during recitation by dedicating time for the students to collaborate to develop various algorithm implementations.</a:t>
            </a: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endParaRPr lang="en-US" sz="2400" b="1" i="1" dirty="0">
              <a:solidFill>
                <a:srgbClr val="2D467F"/>
              </a:solidFill>
              <a:latin typeface="Corbel" panose="020B0503020204020204" pitchFamily="34" charset="0"/>
            </a:endParaRPr>
          </a:p>
          <a:p>
            <a:pPr>
              <a:spcAft>
                <a:spcPts val="1350"/>
              </a:spcAft>
            </a:pPr>
            <a:r>
              <a:rPr lang="en-US" sz="2400" b="1" i="1" dirty="0">
                <a:solidFill>
                  <a:srgbClr val="2D467F"/>
                </a:solidFill>
                <a:latin typeface="Corbel" panose="020B0503020204020204" pitchFamily="34" charset="0"/>
              </a:rPr>
              <a:t>Quantification: </a:t>
            </a:r>
            <a:r>
              <a:rPr lang="en-US" sz="2250" dirty="0">
                <a:latin typeface="Helvetica" pitchFamily="34" charset="0"/>
                <a:cs typeface="Helvetica" pitchFamily="34" charset="0"/>
              </a:rPr>
              <a:t>At the end of term, a survey with rating and short answer components was sent to the bridge students evaluating bridge-group’s impact on their programming confidence, comfort asking questions and collaborating, and feelings of acceptance in the larger academic community.</a:t>
            </a:r>
          </a:p>
        </p:txBody>
      </p:sp>
      <p:sp>
        <p:nvSpPr>
          <p:cNvPr id="347" name="TextBox 346">
            <a:extLst>
              <a:ext uri="{FF2B5EF4-FFF2-40B4-BE49-F238E27FC236}">
                <a16:creationId xmlns:a16="http://schemas.microsoft.com/office/drawing/2014/main" id="{B20CCBF5-4899-7143-BAA4-EBE31655C802}"/>
              </a:ext>
            </a:extLst>
          </p:cNvPr>
          <p:cNvSpPr txBox="1"/>
          <p:nvPr/>
        </p:nvSpPr>
        <p:spPr>
          <a:xfrm>
            <a:off x="26317788" y="14419269"/>
            <a:ext cx="11716463" cy="6529993"/>
          </a:xfrm>
          <a:prstGeom prst="rect">
            <a:avLst/>
          </a:prstGeom>
          <a:noFill/>
        </p:spPr>
        <p:txBody>
          <a:bodyPr wrap="square" lIns="0" rIns="0" numCol="1" rtlCol="0">
            <a:spAutoFit/>
          </a:bodyPr>
          <a:lstStyle/>
          <a:p>
            <a:pPr marL="346329" indent="-342900" algn="just">
              <a:spcAft>
                <a:spcPts val="1350"/>
              </a:spcAft>
              <a:buFont typeface="Wingdings" pitchFamily="2" charset="2"/>
              <a:buChar char="v"/>
            </a:pPr>
            <a:r>
              <a:rPr lang="en-US" sz="2250" dirty="0">
                <a:latin typeface="Helvetica" pitchFamily="34" charset="0"/>
              </a:rPr>
              <a:t>Qualitatively, we saw that students showed an increase in concept retention, desire for understanding course materials, and developed a cohort-environment. </a:t>
            </a:r>
          </a:p>
          <a:p>
            <a:pPr marL="346329" indent="-342900" algn="just">
              <a:spcAft>
                <a:spcPts val="1350"/>
              </a:spcAft>
              <a:buFont typeface="Wingdings" pitchFamily="2" charset="2"/>
              <a:buChar char="v"/>
            </a:pPr>
            <a:r>
              <a:rPr lang="en-US" sz="2250" dirty="0">
                <a:latin typeface="Helvetica" pitchFamily="34" charset="0"/>
              </a:rPr>
              <a:t>Quantitatively, 100% of surveyed students felt more confident in their programming skills, felt more comfortable asking questions they felt their peers might already knew the answer to during office hours and were empowered to pursue CS outside of the course. (</a:t>
            </a:r>
            <a:r>
              <a:rPr lang="en-US" sz="2250" b="1" i="1" dirty="0">
                <a:solidFill>
                  <a:srgbClr val="2D467F"/>
                </a:solidFill>
                <a:latin typeface="Corbel" panose="020B0503020204020204" pitchFamily="34" charset="0"/>
              </a:rPr>
              <a:t>Figure  4)</a:t>
            </a:r>
            <a:endParaRPr lang="en-US" sz="2250" dirty="0">
              <a:latin typeface="Helvetica" pitchFamily="34" charset="0"/>
            </a:endParaRPr>
          </a:p>
          <a:p>
            <a:pPr marL="346329" indent="-342900" algn="just">
              <a:spcAft>
                <a:spcPts val="1350"/>
              </a:spcAft>
              <a:buFont typeface="Wingdings" pitchFamily="2" charset="2"/>
              <a:buChar char="v"/>
            </a:pPr>
            <a:r>
              <a:rPr lang="en-US" sz="2250" dirty="0">
                <a:latin typeface="Helvetica" pitchFamily="34" charset="0"/>
              </a:rPr>
              <a:t>Time spent on homework decreased by up to 50%, despite Bridge-Group’s time commitment.</a:t>
            </a:r>
          </a:p>
          <a:p>
            <a:pPr marL="346329" indent="-342900" algn="just">
              <a:spcAft>
                <a:spcPts val="1350"/>
              </a:spcAft>
              <a:buFont typeface="Wingdings" pitchFamily="2" charset="2"/>
              <a:buChar char="v"/>
            </a:pPr>
            <a:r>
              <a:rPr lang="en-US" sz="2250" dirty="0">
                <a:latin typeface="Helvetica" pitchFamily="34" charset="0"/>
              </a:rPr>
              <a:t>Students reflected that because they felt accepted in the collaborative community created by bridge-group, they were more confident in their identities as computer scientists (</a:t>
            </a:r>
            <a:r>
              <a:rPr lang="en-US" sz="2250" b="1" i="1" dirty="0">
                <a:solidFill>
                  <a:srgbClr val="2D467F"/>
                </a:solidFill>
                <a:latin typeface="Corbel" panose="020B0503020204020204" pitchFamily="34" charset="0"/>
              </a:rPr>
              <a:t>Figure 4)</a:t>
            </a:r>
          </a:p>
          <a:p>
            <a:pPr marL="346329" indent="-342900" algn="just">
              <a:spcAft>
                <a:spcPts val="1350"/>
              </a:spcAft>
              <a:buFont typeface="Wingdings" pitchFamily="2" charset="2"/>
              <a:buChar char="v"/>
            </a:pPr>
            <a:r>
              <a:rPr lang="en-US" sz="2250" dirty="0">
                <a:latin typeface="Helvetica" pitchFamily="34" charset="0"/>
              </a:rPr>
              <a:t>Bridge-Group created an environment where students were encouraged to collaborate, and work in partners or small groups to formulate pseudocode and algorithms. Bridge-Group promoted students’ accessibility to working in teams and encouraged an accepting community. </a:t>
            </a:r>
          </a:p>
          <a:p>
            <a:pPr marL="346329" indent="-342900" algn="just">
              <a:spcAft>
                <a:spcPts val="1350"/>
              </a:spcAft>
              <a:buFont typeface="Wingdings" pitchFamily="2" charset="2"/>
              <a:buChar char="v"/>
            </a:pPr>
            <a:r>
              <a:rPr lang="en-US" sz="2250" dirty="0">
                <a:latin typeface="Helvetica" pitchFamily="34" charset="0"/>
              </a:rPr>
              <a:t>Bridge-Group helped create skills in collaborative coding that is essential for industry.</a:t>
            </a:r>
          </a:p>
        </p:txBody>
      </p:sp>
      <p:sp>
        <p:nvSpPr>
          <p:cNvPr id="348" name="TextBox 347">
            <a:extLst>
              <a:ext uri="{FF2B5EF4-FFF2-40B4-BE49-F238E27FC236}">
                <a16:creationId xmlns:a16="http://schemas.microsoft.com/office/drawing/2014/main" id="{9EA9990F-9E0A-8B4A-BB65-AF7C0CCECF47}"/>
              </a:ext>
            </a:extLst>
          </p:cNvPr>
          <p:cNvSpPr txBox="1"/>
          <p:nvPr/>
        </p:nvSpPr>
        <p:spPr>
          <a:xfrm>
            <a:off x="26324715" y="22154565"/>
            <a:ext cx="11556125" cy="1988820"/>
          </a:xfrm>
          <a:prstGeom prst="rect">
            <a:avLst/>
          </a:prstGeom>
          <a:noFill/>
        </p:spPr>
        <p:txBody>
          <a:bodyPr wrap="square" lIns="0" rIns="0" rtlCol="0">
            <a:noAutofit/>
          </a:bodyPr>
          <a:lstStyle/>
          <a:p>
            <a:pPr algn="just">
              <a:spcAft>
                <a:spcPts val="900"/>
              </a:spcAft>
            </a:pPr>
            <a:r>
              <a:rPr lang="en-US" sz="2400" dirty="0">
                <a:latin typeface="Helvetica" pitchFamily="34" charset="0"/>
              </a:rPr>
              <a:t>Cultivating a positive cohort environment to offer an additional support system to students of disadvantaged backgrounds facilitated their transition from CS1 to CS2. Students felt more confident in their programming abilities, were encouraged to collaborate, and were empowered in their identities as computer scientists. In the future, we plan on implementing this system with larger student cohorts with varied backgrounds.</a:t>
            </a:r>
          </a:p>
        </p:txBody>
      </p:sp>
      <p:pic>
        <p:nvPicPr>
          <p:cNvPr id="37" name="Picture 36" descr="caltech-logo | ShakeAlert®">
            <a:extLst>
              <a:ext uri="{FF2B5EF4-FFF2-40B4-BE49-F238E27FC236}">
                <a16:creationId xmlns:a16="http://schemas.microsoft.com/office/drawing/2014/main" id="{1DB42254-90DF-014C-B696-53A6FC549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478" y="1867951"/>
            <a:ext cx="2932539" cy="2932539"/>
          </a:xfrm>
          <a:prstGeom prst="ellipse">
            <a:avLst/>
          </a:prstGeom>
          <a:noFill/>
          <a:extLst>
            <a:ext uri="{909E8E84-426E-40DD-AFC4-6F175D3DCCD1}">
              <a14:hiddenFill xmlns:a14="http://schemas.microsoft.com/office/drawing/2010/main">
                <a:solidFill>
                  <a:srgbClr val="FFFFFF"/>
                </a:solidFill>
              </a14:hiddenFill>
            </a:ext>
          </a:extLst>
        </p:spPr>
      </p:pic>
      <p:pic>
        <p:nvPicPr>
          <p:cNvPr id="1074" name="Picture 50" descr="the Caltech seal remains untouched | ? logo, Logo icons, Logo google">
            <a:extLst>
              <a:ext uri="{FF2B5EF4-FFF2-40B4-BE49-F238E27FC236}">
                <a16:creationId xmlns:a16="http://schemas.microsoft.com/office/drawing/2014/main" id="{A29BA66F-58D6-C747-809B-87197E76D9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047"/>
          <a:stretch/>
        </p:blipFill>
        <p:spPr bwMode="auto">
          <a:xfrm>
            <a:off x="34808030" y="1921999"/>
            <a:ext cx="2921604" cy="2807959"/>
          </a:xfrm>
          <a:prstGeom prst="rect">
            <a:avLst/>
          </a:prstGeom>
          <a:noFill/>
          <a:extLst>
            <a:ext uri="{909E8E84-426E-40DD-AFC4-6F175D3DCCD1}">
              <a14:hiddenFill xmlns:a14="http://schemas.microsoft.com/office/drawing/2010/main">
                <a:solidFill>
                  <a:srgbClr val="FFFFFF"/>
                </a:solidFill>
              </a14:hiddenFill>
            </a:ext>
          </a:extLst>
        </p:spPr>
      </p:pic>
      <p:sp>
        <p:nvSpPr>
          <p:cNvPr id="22" name="Rounded Rectangular Callout 21">
            <a:extLst>
              <a:ext uri="{FF2B5EF4-FFF2-40B4-BE49-F238E27FC236}">
                <a16:creationId xmlns:a16="http://schemas.microsoft.com/office/drawing/2014/main" id="{4F69C109-4681-9342-8867-1F5768F6A31B}"/>
              </a:ext>
            </a:extLst>
          </p:cNvPr>
          <p:cNvSpPr/>
          <p:nvPr/>
        </p:nvSpPr>
        <p:spPr>
          <a:xfrm>
            <a:off x="12291505" y="19421575"/>
            <a:ext cx="6296615" cy="4614545"/>
          </a:xfrm>
          <a:prstGeom prst="wedgeRoundRectCallout">
            <a:avLst>
              <a:gd name="adj1" fmla="val -41032"/>
              <a:gd name="adj2" fmla="val 68033"/>
              <a:gd name="adj3" fmla="val 16667"/>
            </a:avLst>
          </a:prstGeom>
          <a:solidFill>
            <a:srgbClr val="EEE6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D6F0E69B-241E-B449-BF3A-3AB3A215681B}"/>
              </a:ext>
            </a:extLst>
          </p:cNvPr>
          <p:cNvSpPr txBox="1"/>
          <p:nvPr/>
        </p:nvSpPr>
        <p:spPr>
          <a:xfrm>
            <a:off x="12548739" y="19651620"/>
            <a:ext cx="5752840" cy="4293483"/>
          </a:xfrm>
          <a:prstGeom prst="rect">
            <a:avLst/>
          </a:prstGeom>
          <a:noFill/>
        </p:spPr>
        <p:txBody>
          <a:bodyPr wrap="square" rtlCol="0">
            <a:spAutoFit/>
          </a:bodyPr>
          <a:lstStyle/>
          <a:p>
            <a:r>
              <a:rPr lang="en-US" sz="3300" dirty="0">
                <a:latin typeface="Corbel" panose="020B0503020204020204" pitchFamily="34" charset="0"/>
              </a:rPr>
              <a:t>“Coming into CS2, I was very intimidated (…) but because of the bridge group, I was </a:t>
            </a:r>
            <a:r>
              <a:rPr lang="en-US" sz="3600" b="1" i="1" dirty="0">
                <a:latin typeface="Corbel" panose="020B0503020204020204" pitchFamily="34" charset="0"/>
              </a:rPr>
              <a:t>able to grow at a relatively fast pace</a:t>
            </a:r>
            <a:r>
              <a:rPr lang="en-US" sz="3300" dirty="0">
                <a:latin typeface="Corbel" panose="020B0503020204020204" pitchFamily="34" charset="0"/>
              </a:rPr>
              <a:t>. So much so that CS2 has been a noticeably less struggle for me than CS1, and more fun as well.”</a:t>
            </a:r>
          </a:p>
        </p:txBody>
      </p:sp>
      <p:sp>
        <p:nvSpPr>
          <p:cNvPr id="25" name="Cloud Callout 24">
            <a:extLst>
              <a:ext uri="{FF2B5EF4-FFF2-40B4-BE49-F238E27FC236}">
                <a16:creationId xmlns:a16="http://schemas.microsoft.com/office/drawing/2014/main" id="{608F7E6B-CAC9-7A43-B50E-6C91B4E62E6D}"/>
              </a:ext>
            </a:extLst>
          </p:cNvPr>
          <p:cNvSpPr/>
          <p:nvPr/>
        </p:nvSpPr>
        <p:spPr>
          <a:xfrm flipH="1">
            <a:off x="18896304" y="19421575"/>
            <a:ext cx="7141869" cy="4523528"/>
          </a:xfrm>
          <a:prstGeom prst="cloudCallout">
            <a:avLst>
              <a:gd name="adj1" fmla="val -47683"/>
              <a:gd name="adj2" fmla="val 64695"/>
            </a:avLst>
          </a:prstGeom>
          <a:solidFill>
            <a:srgbClr val="F2C9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21D1C09-9EF3-CA40-AC74-8132DA8EA46C}"/>
              </a:ext>
            </a:extLst>
          </p:cNvPr>
          <p:cNvSpPr txBox="1"/>
          <p:nvPr/>
        </p:nvSpPr>
        <p:spPr>
          <a:xfrm>
            <a:off x="20041331" y="21843792"/>
            <a:ext cx="5685990" cy="1138773"/>
          </a:xfrm>
          <a:prstGeom prst="rect">
            <a:avLst/>
          </a:prstGeom>
          <a:noFill/>
        </p:spPr>
        <p:txBody>
          <a:bodyPr wrap="square" rtlCol="0">
            <a:spAutoFit/>
          </a:bodyPr>
          <a:lstStyle/>
          <a:p>
            <a:r>
              <a:rPr lang="en-US" sz="3400" dirty="0">
                <a:latin typeface="Corbel" panose="020B0503020204020204" pitchFamily="34" charset="0"/>
              </a:rPr>
              <a:t>understanding Java and how to visualize these data</a:t>
            </a:r>
          </a:p>
        </p:txBody>
      </p:sp>
      <p:sp>
        <p:nvSpPr>
          <p:cNvPr id="58" name="TextBox 57">
            <a:extLst>
              <a:ext uri="{FF2B5EF4-FFF2-40B4-BE49-F238E27FC236}">
                <a16:creationId xmlns:a16="http://schemas.microsoft.com/office/drawing/2014/main" id="{0554F516-D783-6F40-BD66-845C1FB4942B}"/>
              </a:ext>
            </a:extLst>
          </p:cNvPr>
          <p:cNvSpPr txBox="1"/>
          <p:nvPr/>
        </p:nvSpPr>
        <p:spPr>
          <a:xfrm>
            <a:off x="19257205" y="20118493"/>
            <a:ext cx="6266222" cy="1877437"/>
          </a:xfrm>
          <a:prstGeom prst="rect">
            <a:avLst/>
          </a:prstGeom>
          <a:noFill/>
        </p:spPr>
        <p:txBody>
          <a:bodyPr wrap="square" rtlCol="0">
            <a:spAutoFit/>
          </a:bodyPr>
          <a:lstStyle/>
          <a:p>
            <a:r>
              <a:rPr lang="en-US" sz="3600" dirty="0">
                <a:latin typeface="Corbel" panose="020B0503020204020204" pitchFamily="34" charset="0"/>
              </a:rPr>
              <a:t>“As a novice programmer, I felt like [Bridge-Group] </a:t>
            </a:r>
            <a:r>
              <a:rPr lang="en-US" sz="4000" b="1" i="1" dirty="0">
                <a:latin typeface="Corbel" panose="020B0503020204020204" pitchFamily="34" charset="0"/>
              </a:rPr>
              <a:t>gave me the support I needed</a:t>
            </a:r>
            <a:r>
              <a:rPr lang="en-US" sz="4000" dirty="0">
                <a:latin typeface="Corbel" panose="020B0503020204020204" pitchFamily="34" charset="0"/>
              </a:rPr>
              <a:t> </a:t>
            </a:r>
            <a:r>
              <a:rPr lang="en-US" sz="3600" dirty="0">
                <a:latin typeface="Corbel" panose="020B0503020204020204" pitchFamily="34" charset="0"/>
              </a:rPr>
              <a:t>for both</a:t>
            </a:r>
          </a:p>
        </p:txBody>
      </p:sp>
      <p:sp>
        <p:nvSpPr>
          <p:cNvPr id="30" name="Rectangular Callout 29">
            <a:extLst>
              <a:ext uri="{FF2B5EF4-FFF2-40B4-BE49-F238E27FC236}">
                <a16:creationId xmlns:a16="http://schemas.microsoft.com/office/drawing/2014/main" id="{C53CD171-AF8E-F54B-B130-D0B4628B1807}"/>
              </a:ext>
            </a:extLst>
          </p:cNvPr>
          <p:cNvSpPr/>
          <p:nvPr/>
        </p:nvSpPr>
        <p:spPr>
          <a:xfrm>
            <a:off x="13158381" y="6414325"/>
            <a:ext cx="12568939" cy="2636725"/>
          </a:xfrm>
          <a:prstGeom prst="wedgeRectCallout">
            <a:avLst>
              <a:gd name="adj1" fmla="val -48248"/>
              <a:gd name="adj2" fmla="val 71170"/>
            </a:avLst>
          </a:prstGeom>
          <a:solidFill>
            <a:srgbClr val="BFEFB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6C26EB70-AD9B-8A46-9FD4-9BD26CA6B87A}"/>
              </a:ext>
            </a:extLst>
          </p:cNvPr>
          <p:cNvSpPr txBox="1"/>
          <p:nvPr/>
        </p:nvSpPr>
        <p:spPr>
          <a:xfrm>
            <a:off x="13299287" y="6601259"/>
            <a:ext cx="12428034" cy="2262158"/>
          </a:xfrm>
          <a:prstGeom prst="rect">
            <a:avLst/>
          </a:prstGeom>
          <a:noFill/>
        </p:spPr>
        <p:txBody>
          <a:bodyPr wrap="square" rtlCol="0">
            <a:spAutoFit/>
          </a:bodyPr>
          <a:lstStyle/>
          <a:p>
            <a:r>
              <a:rPr lang="en-US" sz="3300" dirty="0">
                <a:latin typeface="Corbel" panose="020B0503020204020204" pitchFamily="34" charset="0"/>
              </a:rPr>
              <a:t>“When the projects took like 20+ hours for me before bridge group, they ended up </a:t>
            </a:r>
            <a:r>
              <a:rPr lang="en-US" sz="3600" b="1" i="1" dirty="0">
                <a:latin typeface="Corbel" panose="020B0503020204020204" pitchFamily="34" charset="0"/>
              </a:rPr>
              <a:t>being much more manageable</a:t>
            </a:r>
            <a:r>
              <a:rPr lang="en-US" sz="3300" b="1" i="1" dirty="0">
                <a:latin typeface="Corbel" panose="020B0503020204020204" pitchFamily="34" charset="0"/>
              </a:rPr>
              <a:t> </a:t>
            </a:r>
            <a:r>
              <a:rPr lang="en-US" sz="3300" dirty="0">
                <a:latin typeface="Corbel" panose="020B0503020204020204" pitchFamily="34" charset="0"/>
              </a:rPr>
              <a:t>at 10ish hours, and </a:t>
            </a:r>
          </a:p>
          <a:p>
            <a:r>
              <a:rPr lang="en-US" sz="3600" b="1" i="1" dirty="0">
                <a:latin typeface="Corbel" panose="020B0503020204020204" pitchFamily="34" charset="0"/>
              </a:rPr>
              <a:t>I felt more confident in how I approached each task</a:t>
            </a:r>
            <a:r>
              <a:rPr lang="en-US" sz="3600" dirty="0">
                <a:latin typeface="Corbel" panose="020B0503020204020204" pitchFamily="34" charset="0"/>
              </a:rPr>
              <a:t> </a:t>
            </a:r>
            <a:r>
              <a:rPr lang="en-US" sz="3300" dirty="0">
                <a:latin typeface="Corbel" panose="020B0503020204020204" pitchFamily="34" charset="0"/>
              </a:rPr>
              <a:t>because of the help during recitation.”</a:t>
            </a:r>
          </a:p>
        </p:txBody>
      </p:sp>
      <p:sp>
        <p:nvSpPr>
          <p:cNvPr id="34" name="Rounded Rectangular Callout 33">
            <a:extLst>
              <a:ext uri="{FF2B5EF4-FFF2-40B4-BE49-F238E27FC236}">
                <a16:creationId xmlns:a16="http://schemas.microsoft.com/office/drawing/2014/main" id="{42019910-EE49-C24F-AF00-C1271D55E212}"/>
              </a:ext>
            </a:extLst>
          </p:cNvPr>
          <p:cNvSpPr/>
          <p:nvPr/>
        </p:nvSpPr>
        <p:spPr>
          <a:xfrm flipH="1">
            <a:off x="12984479" y="9915176"/>
            <a:ext cx="12742842" cy="2369947"/>
          </a:xfrm>
          <a:prstGeom prst="wedgeRoundRectCallout">
            <a:avLst>
              <a:gd name="adj1" fmla="val -40024"/>
              <a:gd name="adj2" fmla="val 75361"/>
              <a:gd name="adj3" fmla="val 16667"/>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280F2C78-3120-C94B-876A-4F0FC5D3FF67}"/>
              </a:ext>
            </a:extLst>
          </p:cNvPr>
          <p:cNvSpPr txBox="1"/>
          <p:nvPr/>
        </p:nvSpPr>
        <p:spPr>
          <a:xfrm>
            <a:off x="13158382" y="10048881"/>
            <a:ext cx="12568939" cy="2262158"/>
          </a:xfrm>
          <a:prstGeom prst="rect">
            <a:avLst/>
          </a:prstGeom>
          <a:noFill/>
        </p:spPr>
        <p:txBody>
          <a:bodyPr wrap="square" rtlCol="0">
            <a:spAutoFit/>
          </a:bodyPr>
          <a:lstStyle/>
          <a:p>
            <a:r>
              <a:rPr lang="en-US" sz="3300" dirty="0">
                <a:latin typeface="Corbel" panose="020B0503020204020204" pitchFamily="34" charset="0"/>
              </a:rPr>
              <a:t>“Bridge group made it </a:t>
            </a:r>
            <a:r>
              <a:rPr lang="en-US" sz="3600" b="1" i="1" dirty="0">
                <a:latin typeface="Corbel" panose="020B0503020204020204" pitchFamily="34" charset="0"/>
              </a:rPr>
              <a:t>easier to work with a partner</a:t>
            </a:r>
            <a:r>
              <a:rPr lang="en-US" sz="3300" b="1" i="1" dirty="0">
                <a:latin typeface="Corbel" panose="020B0503020204020204" pitchFamily="34" charset="0"/>
              </a:rPr>
              <a:t> </a:t>
            </a:r>
            <a:r>
              <a:rPr lang="en-US" sz="3300" dirty="0" err="1">
                <a:latin typeface="Corbel" panose="020B0503020204020204" pitchFamily="34" charset="0"/>
              </a:rPr>
              <a:t>‘cause</a:t>
            </a:r>
            <a:r>
              <a:rPr lang="en-US" sz="3300" dirty="0">
                <a:latin typeface="Corbel" panose="020B0503020204020204" pitchFamily="34" charset="0"/>
              </a:rPr>
              <a:t> we would have to meet at bridge group and bridge group OH and it kept us on the same page. (…) Bridge group really </a:t>
            </a:r>
            <a:r>
              <a:rPr lang="en-US" sz="3600" b="1" i="1" dirty="0">
                <a:latin typeface="Corbel" panose="020B0503020204020204" pitchFamily="34" charset="0"/>
              </a:rPr>
              <a:t>helped with collaboration and discussing ideas of implementation</a:t>
            </a:r>
            <a:r>
              <a:rPr lang="en-US" sz="3600" dirty="0">
                <a:latin typeface="Corbel" panose="020B0503020204020204" pitchFamily="34" charset="0"/>
              </a:rPr>
              <a:t>.”</a:t>
            </a:r>
            <a:endParaRPr lang="en-US" sz="3300" dirty="0">
              <a:latin typeface="Corbel" panose="020B0503020204020204" pitchFamily="34" charset="0"/>
            </a:endParaRPr>
          </a:p>
        </p:txBody>
      </p:sp>
      <p:pic>
        <p:nvPicPr>
          <p:cNvPr id="41" name="Picture 40" descr="Text, whiteboard&#10;&#10;Description automatically generated">
            <a:extLst>
              <a:ext uri="{FF2B5EF4-FFF2-40B4-BE49-F238E27FC236}">
                <a16:creationId xmlns:a16="http://schemas.microsoft.com/office/drawing/2014/main" id="{3EF78830-BA99-C64C-8995-7235F44FF025}"/>
              </a:ext>
            </a:extLst>
          </p:cNvPr>
          <p:cNvPicPr>
            <a:picLocks noChangeAspect="1"/>
          </p:cNvPicPr>
          <p:nvPr/>
        </p:nvPicPr>
        <p:blipFill>
          <a:blip r:embed="rId5"/>
          <a:stretch>
            <a:fillRect/>
          </a:stretch>
        </p:blipFill>
        <p:spPr>
          <a:xfrm>
            <a:off x="26324715" y="6380263"/>
            <a:ext cx="11556125" cy="6310477"/>
          </a:xfrm>
          <a:prstGeom prst="rect">
            <a:avLst/>
          </a:prstGeom>
        </p:spPr>
      </p:pic>
      <p:sp>
        <p:nvSpPr>
          <p:cNvPr id="67" name="TextBox 66">
            <a:extLst>
              <a:ext uri="{FF2B5EF4-FFF2-40B4-BE49-F238E27FC236}">
                <a16:creationId xmlns:a16="http://schemas.microsoft.com/office/drawing/2014/main" id="{CDA36156-76A0-0143-B8D6-474A32CD9FEC}"/>
              </a:ext>
            </a:extLst>
          </p:cNvPr>
          <p:cNvSpPr txBox="1"/>
          <p:nvPr/>
        </p:nvSpPr>
        <p:spPr>
          <a:xfrm>
            <a:off x="28727400" y="12724348"/>
            <a:ext cx="8172908" cy="461665"/>
          </a:xfrm>
          <a:prstGeom prst="rect">
            <a:avLst/>
          </a:prstGeom>
          <a:noFill/>
        </p:spPr>
        <p:txBody>
          <a:bodyPr wrap="square" rtlCol="0">
            <a:spAutoFit/>
          </a:bodyPr>
          <a:lstStyle/>
          <a:p>
            <a:r>
              <a:rPr lang="en-US" sz="2400" b="1" i="1" dirty="0">
                <a:solidFill>
                  <a:srgbClr val="2D467F"/>
                </a:solidFill>
                <a:latin typeface="Corbel" panose="020B0503020204020204" pitchFamily="34" charset="0"/>
              </a:rPr>
              <a:t>Figure  3: Photograph from a Recitation Whiteboard 3/3/2022</a:t>
            </a:r>
            <a:endParaRPr lang="en-US" sz="2400" dirty="0">
              <a:solidFill>
                <a:srgbClr val="2D467F"/>
              </a:solidFill>
              <a:latin typeface="Corbel" panose="020B0503020204020204" pitchFamily="34" charset="0"/>
            </a:endParaRPr>
          </a:p>
        </p:txBody>
      </p:sp>
      <p:sp>
        <p:nvSpPr>
          <p:cNvPr id="250" name="TextBox 249"/>
          <p:cNvSpPr txBox="1"/>
          <p:nvPr/>
        </p:nvSpPr>
        <p:spPr>
          <a:xfrm>
            <a:off x="13827107" y="18714180"/>
            <a:ext cx="10562219" cy="461665"/>
          </a:xfrm>
          <a:prstGeom prst="rect">
            <a:avLst/>
          </a:prstGeom>
          <a:noFill/>
        </p:spPr>
        <p:txBody>
          <a:bodyPr wrap="square" rtlCol="0">
            <a:spAutoFit/>
          </a:bodyPr>
          <a:lstStyle/>
          <a:p>
            <a:r>
              <a:rPr lang="en-US" sz="2400" b="1" i="1" dirty="0">
                <a:solidFill>
                  <a:srgbClr val="2D467F"/>
                </a:solidFill>
                <a:latin typeface="Corbel" panose="020B0503020204020204" pitchFamily="34" charset="0"/>
              </a:rPr>
              <a:t>Figure  4: Students’ Percent Agreement on a 1-5 Scale of Survey Statements</a:t>
            </a:r>
            <a:endParaRPr lang="en-US" sz="2400" dirty="0">
              <a:solidFill>
                <a:srgbClr val="2D467F"/>
              </a:solidFill>
              <a:latin typeface="Corbel" panose="020B0503020204020204" pitchFamily="34" charset="0"/>
            </a:endParaRPr>
          </a:p>
        </p:txBody>
      </p:sp>
      <p:sp>
        <p:nvSpPr>
          <p:cNvPr id="2" name="Rounded Rectangle 1">
            <a:extLst>
              <a:ext uri="{FF2B5EF4-FFF2-40B4-BE49-F238E27FC236}">
                <a16:creationId xmlns:a16="http://schemas.microsoft.com/office/drawing/2014/main" id="{7BAD1BF8-354B-0245-8AB2-26270DB3EDC8}"/>
              </a:ext>
            </a:extLst>
          </p:cNvPr>
          <p:cNvSpPr/>
          <p:nvPr/>
        </p:nvSpPr>
        <p:spPr>
          <a:xfrm>
            <a:off x="234796" y="19577535"/>
            <a:ext cx="2779259" cy="3128227"/>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Reviewing Data Structures</a:t>
            </a:r>
          </a:p>
        </p:txBody>
      </p:sp>
      <p:sp>
        <p:nvSpPr>
          <p:cNvPr id="9" name="Right Arrow 8">
            <a:extLst>
              <a:ext uri="{FF2B5EF4-FFF2-40B4-BE49-F238E27FC236}">
                <a16:creationId xmlns:a16="http://schemas.microsoft.com/office/drawing/2014/main" id="{BBEF009E-4EA0-FA4E-9177-9957E7F665DE}"/>
              </a:ext>
            </a:extLst>
          </p:cNvPr>
          <p:cNvSpPr/>
          <p:nvPr/>
        </p:nvSpPr>
        <p:spPr>
          <a:xfrm>
            <a:off x="3190368" y="20865201"/>
            <a:ext cx="1124969" cy="650592"/>
          </a:xfrm>
          <a:prstGeom prst="rightArrow">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EFE8EAF4-7E86-0C48-ADEC-6A5661119D3E}"/>
              </a:ext>
            </a:extLst>
          </p:cNvPr>
          <p:cNvSpPr/>
          <p:nvPr/>
        </p:nvSpPr>
        <p:spPr>
          <a:xfrm>
            <a:off x="4377821" y="19560251"/>
            <a:ext cx="2779259" cy="3128227"/>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Exploring Weekly Project Specs</a:t>
            </a:r>
          </a:p>
        </p:txBody>
      </p:sp>
      <p:sp>
        <p:nvSpPr>
          <p:cNvPr id="45" name="Rounded Rectangle 44">
            <a:extLst>
              <a:ext uri="{FF2B5EF4-FFF2-40B4-BE49-F238E27FC236}">
                <a16:creationId xmlns:a16="http://schemas.microsoft.com/office/drawing/2014/main" id="{033CAE85-5492-AA4D-B738-5FCB3D38054A}"/>
              </a:ext>
            </a:extLst>
          </p:cNvPr>
          <p:cNvSpPr/>
          <p:nvPr/>
        </p:nvSpPr>
        <p:spPr>
          <a:xfrm>
            <a:off x="8515913" y="19554860"/>
            <a:ext cx="2779259" cy="3128227"/>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100" dirty="0"/>
              <a:t>Collaborating to Develop Pseudo-Code</a:t>
            </a:r>
          </a:p>
        </p:txBody>
      </p:sp>
      <p:sp>
        <p:nvSpPr>
          <p:cNvPr id="17" name="TextBox 16">
            <a:extLst>
              <a:ext uri="{FF2B5EF4-FFF2-40B4-BE49-F238E27FC236}">
                <a16:creationId xmlns:a16="http://schemas.microsoft.com/office/drawing/2014/main" id="{533E2240-1AD8-A149-B537-2E5C6F42EF67}"/>
              </a:ext>
            </a:extLst>
          </p:cNvPr>
          <p:cNvSpPr txBox="1"/>
          <p:nvPr/>
        </p:nvSpPr>
        <p:spPr>
          <a:xfrm>
            <a:off x="3811488" y="17942046"/>
            <a:ext cx="6251995" cy="1544269"/>
          </a:xfrm>
          <a:prstGeom prst="rect">
            <a:avLst/>
          </a:prstGeom>
          <a:noFill/>
        </p:spPr>
        <p:txBody>
          <a:bodyPr wrap="square" rtlCol="0">
            <a:spAutoFit/>
          </a:bodyPr>
          <a:lstStyle/>
          <a:p>
            <a:r>
              <a:rPr lang="en-US" sz="2000" b="1" i="1" dirty="0">
                <a:solidFill>
                  <a:srgbClr val="2D467F"/>
                </a:solidFill>
                <a:latin typeface="Corbel" panose="020B0503020204020204" pitchFamily="34" charset="0"/>
              </a:rPr>
              <a:t>Figure 1: CS2 Weekly Course Structure</a:t>
            </a:r>
          </a:p>
          <a:p>
            <a:endParaRPr lang="en-US" dirty="0"/>
          </a:p>
        </p:txBody>
      </p:sp>
      <p:cxnSp>
        <p:nvCxnSpPr>
          <p:cNvPr id="21" name="Straight Connector 20">
            <a:extLst>
              <a:ext uri="{FF2B5EF4-FFF2-40B4-BE49-F238E27FC236}">
                <a16:creationId xmlns:a16="http://schemas.microsoft.com/office/drawing/2014/main" id="{31994213-F633-D94B-B04C-9A75BC3CFC16}"/>
              </a:ext>
            </a:extLst>
          </p:cNvPr>
          <p:cNvCxnSpPr>
            <a:cxnSpLocks/>
          </p:cNvCxnSpPr>
          <p:nvPr/>
        </p:nvCxnSpPr>
        <p:spPr>
          <a:xfrm>
            <a:off x="513403" y="22982565"/>
            <a:ext cx="2229603"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5535607D-B95F-BD42-ACEB-31501F6EB450}"/>
              </a:ext>
            </a:extLst>
          </p:cNvPr>
          <p:cNvCxnSpPr>
            <a:cxnSpLocks/>
          </p:cNvCxnSpPr>
          <p:nvPr/>
        </p:nvCxnSpPr>
        <p:spPr>
          <a:xfrm>
            <a:off x="513403" y="22838595"/>
            <a:ext cx="0" cy="278825"/>
          </a:xfrm>
          <a:prstGeom prst="line">
            <a:avLst/>
          </a:prstGeom>
        </p:spPr>
        <p:style>
          <a:lnRef idx="1">
            <a:schemeClr val="accent2"/>
          </a:lnRef>
          <a:fillRef idx="0">
            <a:schemeClr val="accent2"/>
          </a:fillRef>
          <a:effectRef idx="0">
            <a:schemeClr val="accent2"/>
          </a:effectRef>
          <a:fontRef idx="minor">
            <a:schemeClr val="tx1"/>
          </a:fontRef>
        </p:style>
      </p:cxnSp>
      <p:cxnSp>
        <p:nvCxnSpPr>
          <p:cNvPr id="53" name="Straight Connector 52">
            <a:extLst>
              <a:ext uri="{FF2B5EF4-FFF2-40B4-BE49-F238E27FC236}">
                <a16:creationId xmlns:a16="http://schemas.microsoft.com/office/drawing/2014/main" id="{A091A9CB-466C-6A4A-AAF0-1AEB01E570CF}"/>
              </a:ext>
            </a:extLst>
          </p:cNvPr>
          <p:cNvCxnSpPr>
            <a:cxnSpLocks/>
          </p:cNvCxnSpPr>
          <p:nvPr/>
        </p:nvCxnSpPr>
        <p:spPr>
          <a:xfrm>
            <a:off x="2751394" y="22843152"/>
            <a:ext cx="0" cy="278825"/>
          </a:xfrm>
          <a:prstGeom prst="line">
            <a:avLst/>
          </a:prstGeom>
        </p:spPr>
        <p:style>
          <a:lnRef idx="1">
            <a:schemeClr val="accent2"/>
          </a:lnRef>
          <a:fillRef idx="0">
            <a:schemeClr val="accent2"/>
          </a:fillRef>
          <a:effectRef idx="0">
            <a:schemeClr val="accent2"/>
          </a:effectRef>
          <a:fontRef idx="minor">
            <a:schemeClr val="tx1"/>
          </a:fontRef>
        </p:style>
      </p:cxnSp>
      <p:sp>
        <p:nvSpPr>
          <p:cNvPr id="28" name="TextBox 27">
            <a:extLst>
              <a:ext uri="{FF2B5EF4-FFF2-40B4-BE49-F238E27FC236}">
                <a16:creationId xmlns:a16="http://schemas.microsoft.com/office/drawing/2014/main" id="{4E998BB9-4BB3-DC4C-B3D9-8F64F20320D2}"/>
              </a:ext>
            </a:extLst>
          </p:cNvPr>
          <p:cNvSpPr txBox="1"/>
          <p:nvPr/>
        </p:nvSpPr>
        <p:spPr>
          <a:xfrm>
            <a:off x="1166926" y="22956825"/>
            <a:ext cx="960798" cy="338554"/>
          </a:xfrm>
          <a:prstGeom prst="rect">
            <a:avLst/>
          </a:prstGeom>
          <a:noFill/>
        </p:spPr>
        <p:txBody>
          <a:bodyPr wrap="square" rtlCol="0">
            <a:spAutoFit/>
          </a:bodyPr>
          <a:lstStyle/>
          <a:p>
            <a:r>
              <a:rPr lang="en-US" sz="1600" dirty="0"/>
              <a:t>20 mins</a:t>
            </a:r>
          </a:p>
        </p:txBody>
      </p:sp>
      <p:sp>
        <p:nvSpPr>
          <p:cNvPr id="63" name="TextBox 62">
            <a:extLst>
              <a:ext uri="{FF2B5EF4-FFF2-40B4-BE49-F238E27FC236}">
                <a16:creationId xmlns:a16="http://schemas.microsoft.com/office/drawing/2014/main" id="{95D11E91-AE77-8446-AEAC-95817772AED2}"/>
              </a:ext>
            </a:extLst>
          </p:cNvPr>
          <p:cNvSpPr txBox="1"/>
          <p:nvPr/>
        </p:nvSpPr>
        <p:spPr>
          <a:xfrm>
            <a:off x="3913262" y="23279519"/>
            <a:ext cx="3708375" cy="1544269"/>
          </a:xfrm>
          <a:prstGeom prst="rect">
            <a:avLst/>
          </a:prstGeom>
          <a:noFill/>
        </p:spPr>
        <p:txBody>
          <a:bodyPr wrap="square" rtlCol="0">
            <a:spAutoFit/>
          </a:bodyPr>
          <a:lstStyle/>
          <a:p>
            <a:r>
              <a:rPr lang="en-US" sz="2000" b="1" i="1" dirty="0">
                <a:solidFill>
                  <a:srgbClr val="2D467F"/>
                </a:solidFill>
                <a:latin typeface="Corbel" panose="020B0503020204020204" pitchFamily="34" charset="0"/>
              </a:rPr>
              <a:t>Figure 2: Recitation Structure</a:t>
            </a:r>
          </a:p>
          <a:p>
            <a:endParaRPr lang="en-US" dirty="0"/>
          </a:p>
        </p:txBody>
      </p:sp>
      <p:pic>
        <p:nvPicPr>
          <p:cNvPr id="7" name="Picture 6" descr="Chart&#10;&#10;Description automatically generated">
            <a:extLst>
              <a:ext uri="{FF2B5EF4-FFF2-40B4-BE49-F238E27FC236}">
                <a16:creationId xmlns:a16="http://schemas.microsoft.com/office/drawing/2014/main" id="{842C0EA6-D4B3-564B-807C-74387BD010CA}"/>
              </a:ext>
            </a:extLst>
          </p:cNvPr>
          <p:cNvPicPr>
            <a:picLocks noChangeAspect="1"/>
          </p:cNvPicPr>
          <p:nvPr/>
        </p:nvPicPr>
        <p:blipFill rotWithShape="1">
          <a:blip r:embed="rId6"/>
          <a:srcRect b="721"/>
          <a:stretch/>
        </p:blipFill>
        <p:spPr>
          <a:xfrm>
            <a:off x="914400" y="13201394"/>
            <a:ext cx="10515600" cy="4740652"/>
          </a:xfrm>
          <a:prstGeom prst="rect">
            <a:avLst/>
          </a:prstGeom>
        </p:spPr>
      </p:pic>
      <p:sp>
        <p:nvSpPr>
          <p:cNvPr id="79" name="Right Arrow 78">
            <a:extLst>
              <a:ext uri="{FF2B5EF4-FFF2-40B4-BE49-F238E27FC236}">
                <a16:creationId xmlns:a16="http://schemas.microsoft.com/office/drawing/2014/main" id="{D298AF8A-94CE-2544-9546-17DA3B7CA535}"/>
              </a:ext>
            </a:extLst>
          </p:cNvPr>
          <p:cNvSpPr/>
          <p:nvPr/>
        </p:nvSpPr>
        <p:spPr>
          <a:xfrm>
            <a:off x="7295584" y="20863369"/>
            <a:ext cx="1124969" cy="650592"/>
          </a:xfrm>
          <a:prstGeom prst="rightArrow">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1049EEA2-CA23-8643-AB97-0CD51B5C013E}"/>
              </a:ext>
            </a:extLst>
          </p:cNvPr>
          <p:cNvSpPr txBox="1"/>
          <p:nvPr/>
        </p:nvSpPr>
        <p:spPr>
          <a:xfrm>
            <a:off x="21641083" y="22775126"/>
            <a:ext cx="2486485" cy="630942"/>
          </a:xfrm>
          <a:prstGeom prst="rect">
            <a:avLst/>
          </a:prstGeom>
          <a:noFill/>
        </p:spPr>
        <p:txBody>
          <a:bodyPr wrap="square" rtlCol="0">
            <a:spAutoFit/>
          </a:bodyPr>
          <a:lstStyle/>
          <a:p>
            <a:r>
              <a:rPr lang="en-US" sz="3500" dirty="0">
                <a:latin typeface="Corbel" panose="020B0503020204020204" pitchFamily="34" charset="0"/>
              </a:rPr>
              <a:t>structures.”</a:t>
            </a:r>
            <a:endParaRPr lang="en-US" sz="3500" dirty="0"/>
          </a:p>
        </p:txBody>
      </p:sp>
      <p:graphicFrame>
        <p:nvGraphicFramePr>
          <p:cNvPr id="90" name="Chart 89">
            <a:extLst>
              <a:ext uri="{FF2B5EF4-FFF2-40B4-BE49-F238E27FC236}">
                <a16:creationId xmlns:a16="http://schemas.microsoft.com/office/drawing/2014/main" id="{0CF7830E-80CE-B91D-1D5E-548C607595F5}"/>
              </a:ext>
            </a:extLst>
          </p:cNvPr>
          <p:cNvGraphicFramePr>
            <a:graphicFrameLocks/>
          </p:cNvGraphicFramePr>
          <p:nvPr>
            <p:extLst>
              <p:ext uri="{D42A27DB-BD31-4B8C-83A1-F6EECF244321}">
                <p14:modId xmlns:p14="http://schemas.microsoft.com/office/powerpoint/2010/main" val="803179044"/>
              </p:ext>
            </p:extLst>
          </p:nvPr>
        </p:nvGraphicFramePr>
        <p:xfrm>
          <a:off x="12702243" y="13064319"/>
          <a:ext cx="12731825" cy="5444239"/>
        </p:xfrm>
        <a:graphic>
          <a:graphicData uri="http://schemas.openxmlformats.org/drawingml/2006/chart">
            <c:chart xmlns:c="http://schemas.openxmlformats.org/drawingml/2006/chart" xmlns:r="http://schemas.openxmlformats.org/officeDocument/2006/relationships" r:id="rId7"/>
          </a:graphicData>
        </a:graphic>
      </p:graphicFrame>
      <p:sp>
        <p:nvSpPr>
          <p:cNvPr id="92" name="TextBox 91">
            <a:extLst>
              <a:ext uri="{FF2B5EF4-FFF2-40B4-BE49-F238E27FC236}">
                <a16:creationId xmlns:a16="http://schemas.microsoft.com/office/drawing/2014/main" id="{A5D479CB-C6F5-CE43-88F1-DF1FA8BD55E8}"/>
              </a:ext>
            </a:extLst>
          </p:cNvPr>
          <p:cNvSpPr txBox="1"/>
          <p:nvPr/>
        </p:nvSpPr>
        <p:spPr>
          <a:xfrm>
            <a:off x="1383540" y="15126085"/>
            <a:ext cx="1488367" cy="584775"/>
          </a:xfrm>
          <a:prstGeom prst="rect">
            <a:avLst/>
          </a:prstGeom>
          <a:noFill/>
        </p:spPr>
        <p:txBody>
          <a:bodyPr wrap="square" rtlCol="0">
            <a:spAutoFit/>
          </a:bodyPr>
          <a:lstStyle/>
          <a:p>
            <a:pPr algn="ctr"/>
            <a:r>
              <a:rPr lang="en-US" sz="1600" dirty="0">
                <a:solidFill>
                  <a:srgbClr val="00B050"/>
                </a:solidFill>
              </a:rPr>
              <a:t>Bridge-Group Office Hours</a:t>
            </a:r>
          </a:p>
        </p:txBody>
      </p:sp>
      <p:sp>
        <p:nvSpPr>
          <p:cNvPr id="93" name="TextBox 92">
            <a:extLst>
              <a:ext uri="{FF2B5EF4-FFF2-40B4-BE49-F238E27FC236}">
                <a16:creationId xmlns:a16="http://schemas.microsoft.com/office/drawing/2014/main" id="{B7750E18-6061-3D41-A1ED-7C3DDADDF8B4}"/>
              </a:ext>
            </a:extLst>
          </p:cNvPr>
          <p:cNvSpPr txBox="1"/>
          <p:nvPr/>
        </p:nvSpPr>
        <p:spPr>
          <a:xfrm>
            <a:off x="4045466" y="17098416"/>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01" name="TextBox 100">
            <a:extLst>
              <a:ext uri="{FF2B5EF4-FFF2-40B4-BE49-F238E27FC236}">
                <a16:creationId xmlns:a16="http://schemas.microsoft.com/office/drawing/2014/main" id="{04DC8EC6-F014-EF45-B50C-80385119F3FB}"/>
              </a:ext>
            </a:extLst>
          </p:cNvPr>
          <p:cNvSpPr txBox="1"/>
          <p:nvPr/>
        </p:nvSpPr>
        <p:spPr>
          <a:xfrm>
            <a:off x="3129787" y="14307801"/>
            <a:ext cx="1004919" cy="338554"/>
          </a:xfrm>
          <a:prstGeom prst="rect">
            <a:avLst/>
          </a:prstGeom>
          <a:noFill/>
        </p:spPr>
        <p:txBody>
          <a:bodyPr wrap="square" rtlCol="0">
            <a:spAutoFit/>
          </a:bodyPr>
          <a:lstStyle/>
          <a:p>
            <a:pPr algn="ctr"/>
            <a:r>
              <a:rPr lang="en-US" sz="1600" dirty="0">
                <a:solidFill>
                  <a:schemeClr val="accent6">
                    <a:lumMod val="75000"/>
                  </a:schemeClr>
                </a:solidFill>
              </a:rPr>
              <a:t>Lecture</a:t>
            </a:r>
          </a:p>
        </p:txBody>
      </p:sp>
      <p:cxnSp>
        <p:nvCxnSpPr>
          <p:cNvPr id="107" name="Straight Connector 106">
            <a:extLst>
              <a:ext uri="{FF2B5EF4-FFF2-40B4-BE49-F238E27FC236}">
                <a16:creationId xmlns:a16="http://schemas.microsoft.com/office/drawing/2014/main" id="{2E99A934-F0C0-A148-A36F-360FEE3C2C20}"/>
              </a:ext>
            </a:extLst>
          </p:cNvPr>
          <p:cNvCxnSpPr>
            <a:cxnSpLocks/>
          </p:cNvCxnSpPr>
          <p:nvPr/>
        </p:nvCxnSpPr>
        <p:spPr>
          <a:xfrm>
            <a:off x="4745103" y="22982565"/>
            <a:ext cx="2229603"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08" name="Straight Connector 107">
            <a:extLst>
              <a:ext uri="{FF2B5EF4-FFF2-40B4-BE49-F238E27FC236}">
                <a16:creationId xmlns:a16="http://schemas.microsoft.com/office/drawing/2014/main" id="{7A707BC4-C4E8-9F40-865F-520DB1C023D8}"/>
              </a:ext>
            </a:extLst>
          </p:cNvPr>
          <p:cNvCxnSpPr>
            <a:cxnSpLocks/>
          </p:cNvCxnSpPr>
          <p:nvPr/>
        </p:nvCxnSpPr>
        <p:spPr>
          <a:xfrm>
            <a:off x="4745103" y="22838595"/>
            <a:ext cx="0" cy="278825"/>
          </a:xfrm>
          <a:prstGeom prst="line">
            <a:avLst/>
          </a:prstGeom>
        </p:spPr>
        <p:style>
          <a:lnRef idx="1">
            <a:schemeClr val="accent2"/>
          </a:lnRef>
          <a:fillRef idx="0">
            <a:schemeClr val="accent2"/>
          </a:fillRef>
          <a:effectRef idx="0">
            <a:schemeClr val="accent2"/>
          </a:effectRef>
          <a:fontRef idx="minor">
            <a:schemeClr val="tx1"/>
          </a:fontRef>
        </p:style>
      </p:cxnSp>
      <p:cxnSp>
        <p:nvCxnSpPr>
          <p:cNvPr id="109" name="Straight Connector 108">
            <a:extLst>
              <a:ext uri="{FF2B5EF4-FFF2-40B4-BE49-F238E27FC236}">
                <a16:creationId xmlns:a16="http://schemas.microsoft.com/office/drawing/2014/main" id="{CC878A38-AF1B-084E-B93E-53D2A51771A9}"/>
              </a:ext>
            </a:extLst>
          </p:cNvPr>
          <p:cNvCxnSpPr>
            <a:cxnSpLocks/>
          </p:cNvCxnSpPr>
          <p:nvPr/>
        </p:nvCxnSpPr>
        <p:spPr>
          <a:xfrm>
            <a:off x="6983094" y="22843152"/>
            <a:ext cx="0" cy="278825"/>
          </a:xfrm>
          <a:prstGeom prst="line">
            <a:avLst/>
          </a:prstGeom>
        </p:spPr>
        <p:style>
          <a:lnRef idx="1">
            <a:schemeClr val="accent2"/>
          </a:lnRef>
          <a:fillRef idx="0">
            <a:schemeClr val="accent2"/>
          </a:fillRef>
          <a:effectRef idx="0">
            <a:schemeClr val="accent2"/>
          </a:effectRef>
          <a:fontRef idx="minor">
            <a:schemeClr val="tx1"/>
          </a:fontRef>
        </p:style>
      </p:cxnSp>
      <p:sp>
        <p:nvSpPr>
          <p:cNvPr id="110" name="TextBox 109">
            <a:extLst>
              <a:ext uri="{FF2B5EF4-FFF2-40B4-BE49-F238E27FC236}">
                <a16:creationId xmlns:a16="http://schemas.microsoft.com/office/drawing/2014/main" id="{A4ADCFAE-6E21-B741-A0E2-A64B41B6C822}"/>
              </a:ext>
            </a:extLst>
          </p:cNvPr>
          <p:cNvSpPr txBox="1"/>
          <p:nvPr/>
        </p:nvSpPr>
        <p:spPr>
          <a:xfrm>
            <a:off x="5398626" y="22956825"/>
            <a:ext cx="960798" cy="338554"/>
          </a:xfrm>
          <a:prstGeom prst="rect">
            <a:avLst/>
          </a:prstGeom>
          <a:noFill/>
        </p:spPr>
        <p:txBody>
          <a:bodyPr wrap="square" rtlCol="0">
            <a:spAutoFit/>
          </a:bodyPr>
          <a:lstStyle/>
          <a:p>
            <a:r>
              <a:rPr lang="en-US" sz="1600" dirty="0"/>
              <a:t>20 mins</a:t>
            </a:r>
          </a:p>
        </p:txBody>
      </p:sp>
      <p:cxnSp>
        <p:nvCxnSpPr>
          <p:cNvPr id="111" name="Straight Connector 110">
            <a:extLst>
              <a:ext uri="{FF2B5EF4-FFF2-40B4-BE49-F238E27FC236}">
                <a16:creationId xmlns:a16="http://schemas.microsoft.com/office/drawing/2014/main" id="{0723F8CA-CCD2-AF43-9079-335B1ACB4BF5}"/>
              </a:ext>
            </a:extLst>
          </p:cNvPr>
          <p:cNvCxnSpPr>
            <a:cxnSpLocks/>
          </p:cNvCxnSpPr>
          <p:nvPr/>
        </p:nvCxnSpPr>
        <p:spPr>
          <a:xfrm>
            <a:off x="8748722" y="22982565"/>
            <a:ext cx="2229603"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2" name="Straight Connector 111">
            <a:extLst>
              <a:ext uri="{FF2B5EF4-FFF2-40B4-BE49-F238E27FC236}">
                <a16:creationId xmlns:a16="http://schemas.microsoft.com/office/drawing/2014/main" id="{8F7380FE-7A43-094A-A28F-2DD9143D91E3}"/>
              </a:ext>
            </a:extLst>
          </p:cNvPr>
          <p:cNvCxnSpPr>
            <a:cxnSpLocks/>
          </p:cNvCxnSpPr>
          <p:nvPr/>
        </p:nvCxnSpPr>
        <p:spPr>
          <a:xfrm>
            <a:off x="8748722" y="22838595"/>
            <a:ext cx="0" cy="278825"/>
          </a:xfrm>
          <a:prstGeom prst="line">
            <a:avLst/>
          </a:prstGeom>
        </p:spPr>
        <p:style>
          <a:lnRef idx="1">
            <a:schemeClr val="accent2"/>
          </a:lnRef>
          <a:fillRef idx="0">
            <a:schemeClr val="accent2"/>
          </a:fillRef>
          <a:effectRef idx="0">
            <a:schemeClr val="accent2"/>
          </a:effectRef>
          <a:fontRef idx="minor">
            <a:schemeClr val="tx1"/>
          </a:fontRef>
        </p:style>
      </p:cxnSp>
      <p:cxnSp>
        <p:nvCxnSpPr>
          <p:cNvPr id="113" name="Straight Connector 112">
            <a:extLst>
              <a:ext uri="{FF2B5EF4-FFF2-40B4-BE49-F238E27FC236}">
                <a16:creationId xmlns:a16="http://schemas.microsoft.com/office/drawing/2014/main" id="{5A7DE6CC-EE65-0E44-B986-24A313BAC98F}"/>
              </a:ext>
            </a:extLst>
          </p:cNvPr>
          <p:cNvCxnSpPr>
            <a:cxnSpLocks/>
          </p:cNvCxnSpPr>
          <p:nvPr/>
        </p:nvCxnSpPr>
        <p:spPr>
          <a:xfrm>
            <a:off x="10986713" y="22843152"/>
            <a:ext cx="0" cy="278825"/>
          </a:xfrm>
          <a:prstGeom prst="line">
            <a:avLst/>
          </a:prstGeom>
        </p:spPr>
        <p:style>
          <a:lnRef idx="1">
            <a:schemeClr val="accent2"/>
          </a:lnRef>
          <a:fillRef idx="0">
            <a:schemeClr val="accent2"/>
          </a:fillRef>
          <a:effectRef idx="0">
            <a:schemeClr val="accent2"/>
          </a:effectRef>
          <a:fontRef idx="minor">
            <a:schemeClr val="tx1"/>
          </a:fontRef>
        </p:style>
      </p:cxnSp>
      <p:sp>
        <p:nvSpPr>
          <p:cNvPr id="114" name="TextBox 113">
            <a:extLst>
              <a:ext uri="{FF2B5EF4-FFF2-40B4-BE49-F238E27FC236}">
                <a16:creationId xmlns:a16="http://schemas.microsoft.com/office/drawing/2014/main" id="{7F03B03C-0A2E-0A40-A6B5-DDB49438CAB7}"/>
              </a:ext>
            </a:extLst>
          </p:cNvPr>
          <p:cNvSpPr txBox="1"/>
          <p:nvPr/>
        </p:nvSpPr>
        <p:spPr>
          <a:xfrm>
            <a:off x="9402245" y="22956825"/>
            <a:ext cx="960798" cy="338554"/>
          </a:xfrm>
          <a:prstGeom prst="rect">
            <a:avLst/>
          </a:prstGeom>
          <a:noFill/>
        </p:spPr>
        <p:txBody>
          <a:bodyPr wrap="square" rtlCol="0">
            <a:spAutoFit/>
          </a:bodyPr>
          <a:lstStyle/>
          <a:p>
            <a:r>
              <a:rPr lang="en-US" sz="1600" dirty="0"/>
              <a:t>20 mins</a:t>
            </a:r>
          </a:p>
        </p:txBody>
      </p:sp>
      <p:sp>
        <p:nvSpPr>
          <p:cNvPr id="115" name="TextBox 114">
            <a:extLst>
              <a:ext uri="{FF2B5EF4-FFF2-40B4-BE49-F238E27FC236}">
                <a16:creationId xmlns:a16="http://schemas.microsoft.com/office/drawing/2014/main" id="{31A838F9-4B99-C94F-AA00-3DC254BD72DF}"/>
              </a:ext>
            </a:extLst>
          </p:cNvPr>
          <p:cNvSpPr txBox="1"/>
          <p:nvPr/>
        </p:nvSpPr>
        <p:spPr>
          <a:xfrm>
            <a:off x="2707242" y="16042085"/>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16" name="TextBox 115">
            <a:extLst>
              <a:ext uri="{FF2B5EF4-FFF2-40B4-BE49-F238E27FC236}">
                <a16:creationId xmlns:a16="http://schemas.microsoft.com/office/drawing/2014/main" id="{C3B3BF1B-984D-E343-9DC5-A1E1D7F14A1F}"/>
              </a:ext>
            </a:extLst>
          </p:cNvPr>
          <p:cNvSpPr txBox="1"/>
          <p:nvPr/>
        </p:nvSpPr>
        <p:spPr>
          <a:xfrm>
            <a:off x="1284651" y="16811129"/>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17" name="TextBox 116">
            <a:extLst>
              <a:ext uri="{FF2B5EF4-FFF2-40B4-BE49-F238E27FC236}">
                <a16:creationId xmlns:a16="http://schemas.microsoft.com/office/drawing/2014/main" id="{98106341-3BAB-FD48-97C5-799DD954DCF8}"/>
              </a:ext>
            </a:extLst>
          </p:cNvPr>
          <p:cNvSpPr txBox="1"/>
          <p:nvPr/>
        </p:nvSpPr>
        <p:spPr>
          <a:xfrm>
            <a:off x="5487075" y="17318116"/>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18" name="TextBox 117">
            <a:extLst>
              <a:ext uri="{FF2B5EF4-FFF2-40B4-BE49-F238E27FC236}">
                <a16:creationId xmlns:a16="http://schemas.microsoft.com/office/drawing/2014/main" id="{399C6BB9-80DF-9C4B-A73A-2C7A06F6797D}"/>
              </a:ext>
            </a:extLst>
          </p:cNvPr>
          <p:cNvSpPr txBox="1"/>
          <p:nvPr/>
        </p:nvSpPr>
        <p:spPr>
          <a:xfrm>
            <a:off x="5586448" y="16426597"/>
            <a:ext cx="1901488" cy="461665"/>
          </a:xfrm>
          <a:prstGeom prst="rect">
            <a:avLst/>
          </a:prstGeom>
          <a:noFill/>
        </p:spPr>
        <p:txBody>
          <a:bodyPr wrap="square" rtlCol="0">
            <a:spAutoFit/>
          </a:bodyPr>
          <a:lstStyle/>
          <a:p>
            <a:pPr algn="ctr"/>
            <a:r>
              <a:rPr lang="en-US" sz="1200" dirty="0">
                <a:solidFill>
                  <a:schemeClr val="accent6">
                    <a:lumMod val="75000"/>
                  </a:schemeClr>
                </a:solidFill>
              </a:rPr>
              <a:t>General</a:t>
            </a:r>
          </a:p>
          <a:p>
            <a:pPr algn="ctr"/>
            <a:r>
              <a:rPr lang="en-US" sz="1200" dirty="0">
                <a:solidFill>
                  <a:schemeClr val="accent6">
                    <a:lumMod val="75000"/>
                  </a:schemeClr>
                </a:solidFill>
              </a:rPr>
              <a:t> Office Hours</a:t>
            </a:r>
          </a:p>
        </p:txBody>
      </p:sp>
      <p:sp>
        <p:nvSpPr>
          <p:cNvPr id="119" name="TextBox 118">
            <a:extLst>
              <a:ext uri="{FF2B5EF4-FFF2-40B4-BE49-F238E27FC236}">
                <a16:creationId xmlns:a16="http://schemas.microsoft.com/office/drawing/2014/main" id="{89C8593E-F656-0140-A883-B6D5706E2D6D}"/>
              </a:ext>
            </a:extLst>
          </p:cNvPr>
          <p:cNvSpPr txBox="1"/>
          <p:nvPr/>
        </p:nvSpPr>
        <p:spPr>
          <a:xfrm>
            <a:off x="6913291" y="16814567"/>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20" name="TextBox 119">
            <a:extLst>
              <a:ext uri="{FF2B5EF4-FFF2-40B4-BE49-F238E27FC236}">
                <a16:creationId xmlns:a16="http://schemas.microsoft.com/office/drawing/2014/main" id="{8C4EB6D3-E6A4-0E4C-AF25-55D324395AF4}"/>
              </a:ext>
            </a:extLst>
          </p:cNvPr>
          <p:cNvSpPr txBox="1"/>
          <p:nvPr/>
        </p:nvSpPr>
        <p:spPr>
          <a:xfrm>
            <a:off x="8451501" y="16814566"/>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21" name="TextBox 120">
            <a:extLst>
              <a:ext uri="{FF2B5EF4-FFF2-40B4-BE49-F238E27FC236}">
                <a16:creationId xmlns:a16="http://schemas.microsoft.com/office/drawing/2014/main" id="{10BF1269-9CA8-8C46-A644-428732A6A3E4}"/>
              </a:ext>
            </a:extLst>
          </p:cNvPr>
          <p:cNvSpPr txBox="1"/>
          <p:nvPr/>
        </p:nvSpPr>
        <p:spPr>
          <a:xfrm>
            <a:off x="9844105" y="16810476"/>
            <a:ext cx="1901488" cy="584775"/>
          </a:xfrm>
          <a:prstGeom prst="rect">
            <a:avLst/>
          </a:prstGeom>
          <a:noFill/>
        </p:spPr>
        <p:txBody>
          <a:bodyPr wrap="square" rtlCol="0">
            <a:spAutoFit/>
          </a:bodyPr>
          <a:lstStyle/>
          <a:p>
            <a:pPr algn="ctr"/>
            <a:r>
              <a:rPr lang="en-US" sz="1600" dirty="0">
                <a:solidFill>
                  <a:schemeClr val="accent6">
                    <a:lumMod val="75000"/>
                  </a:schemeClr>
                </a:solidFill>
              </a:rPr>
              <a:t>General</a:t>
            </a:r>
          </a:p>
          <a:p>
            <a:pPr algn="ctr"/>
            <a:r>
              <a:rPr lang="en-US" sz="1600" dirty="0">
                <a:solidFill>
                  <a:schemeClr val="accent6">
                    <a:lumMod val="75000"/>
                  </a:schemeClr>
                </a:solidFill>
              </a:rPr>
              <a:t> Office Hours</a:t>
            </a:r>
          </a:p>
        </p:txBody>
      </p:sp>
      <p:sp>
        <p:nvSpPr>
          <p:cNvPr id="122" name="TextBox 121">
            <a:extLst>
              <a:ext uri="{FF2B5EF4-FFF2-40B4-BE49-F238E27FC236}">
                <a16:creationId xmlns:a16="http://schemas.microsoft.com/office/drawing/2014/main" id="{EB916D3A-8906-D040-8A9D-7B7F551891CB}"/>
              </a:ext>
            </a:extLst>
          </p:cNvPr>
          <p:cNvSpPr txBox="1"/>
          <p:nvPr/>
        </p:nvSpPr>
        <p:spPr>
          <a:xfrm>
            <a:off x="5857635" y="16775412"/>
            <a:ext cx="1488367" cy="461665"/>
          </a:xfrm>
          <a:prstGeom prst="rect">
            <a:avLst/>
          </a:prstGeom>
          <a:noFill/>
        </p:spPr>
        <p:txBody>
          <a:bodyPr wrap="square" rtlCol="0">
            <a:spAutoFit/>
          </a:bodyPr>
          <a:lstStyle/>
          <a:p>
            <a:pPr algn="ctr"/>
            <a:r>
              <a:rPr lang="en-US" sz="1200" dirty="0">
                <a:solidFill>
                  <a:srgbClr val="00B050"/>
                </a:solidFill>
              </a:rPr>
              <a:t>Bridge-Group Recitation</a:t>
            </a:r>
          </a:p>
        </p:txBody>
      </p:sp>
      <p:sp>
        <p:nvSpPr>
          <p:cNvPr id="123" name="TextBox 122">
            <a:extLst>
              <a:ext uri="{FF2B5EF4-FFF2-40B4-BE49-F238E27FC236}">
                <a16:creationId xmlns:a16="http://schemas.microsoft.com/office/drawing/2014/main" id="{6C994D88-9210-4B49-B3E9-9B86A3FCE306}"/>
              </a:ext>
            </a:extLst>
          </p:cNvPr>
          <p:cNvSpPr txBox="1"/>
          <p:nvPr/>
        </p:nvSpPr>
        <p:spPr>
          <a:xfrm>
            <a:off x="5978175" y="14302694"/>
            <a:ext cx="1004919" cy="338554"/>
          </a:xfrm>
          <a:prstGeom prst="rect">
            <a:avLst/>
          </a:prstGeom>
          <a:noFill/>
        </p:spPr>
        <p:txBody>
          <a:bodyPr wrap="square" rtlCol="0">
            <a:spAutoFit/>
          </a:bodyPr>
          <a:lstStyle/>
          <a:p>
            <a:pPr algn="ctr"/>
            <a:r>
              <a:rPr lang="en-US" sz="1600" dirty="0">
                <a:solidFill>
                  <a:schemeClr val="accent6">
                    <a:lumMod val="75000"/>
                  </a:schemeClr>
                </a:solidFill>
              </a:rPr>
              <a:t>Lecture</a:t>
            </a:r>
          </a:p>
        </p:txBody>
      </p:sp>
      <p:sp>
        <p:nvSpPr>
          <p:cNvPr id="124" name="TextBox 123">
            <a:extLst>
              <a:ext uri="{FF2B5EF4-FFF2-40B4-BE49-F238E27FC236}">
                <a16:creationId xmlns:a16="http://schemas.microsoft.com/office/drawing/2014/main" id="{DE531D6D-39AC-F44E-AB89-DD45FB054CF7}"/>
              </a:ext>
            </a:extLst>
          </p:cNvPr>
          <p:cNvSpPr txBox="1"/>
          <p:nvPr/>
        </p:nvSpPr>
        <p:spPr>
          <a:xfrm>
            <a:off x="8842922" y="14302694"/>
            <a:ext cx="1004919" cy="338554"/>
          </a:xfrm>
          <a:prstGeom prst="rect">
            <a:avLst/>
          </a:prstGeom>
          <a:noFill/>
        </p:spPr>
        <p:txBody>
          <a:bodyPr wrap="square" rtlCol="0">
            <a:spAutoFit/>
          </a:bodyPr>
          <a:lstStyle/>
          <a:p>
            <a:pPr algn="ctr"/>
            <a:r>
              <a:rPr lang="en-US" sz="1600" dirty="0">
                <a:solidFill>
                  <a:schemeClr val="accent6">
                    <a:lumMod val="75000"/>
                  </a:schemeClr>
                </a:solidFill>
              </a:rPr>
              <a:t>Lecture</a:t>
            </a:r>
          </a:p>
        </p:txBody>
      </p:sp>
      <p:sp>
        <p:nvSpPr>
          <p:cNvPr id="125" name="TextBox 124">
            <a:extLst>
              <a:ext uri="{FF2B5EF4-FFF2-40B4-BE49-F238E27FC236}">
                <a16:creationId xmlns:a16="http://schemas.microsoft.com/office/drawing/2014/main" id="{B900142F-079B-264A-8364-5526E3CE0943}"/>
              </a:ext>
            </a:extLst>
          </p:cNvPr>
          <p:cNvSpPr txBox="1"/>
          <p:nvPr/>
        </p:nvSpPr>
        <p:spPr>
          <a:xfrm>
            <a:off x="4520431" y="13952015"/>
            <a:ext cx="1004919" cy="338554"/>
          </a:xfrm>
          <a:prstGeom prst="rect">
            <a:avLst/>
          </a:prstGeom>
          <a:noFill/>
        </p:spPr>
        <p:txBody>
          <a:bodyPr wrap="square" rtlCol="0">
            <a:spAutoFit/>
          </a:bodyPr>
          <a:lstStyle/>
          <a:p>
            <a:pPr algn="ctr"/>
            <a:r>
              <a:rPr lang="en-US" sz="1600" dirty="0">
                <a:solidFill>
                  <a:schemeClr val="accent6">
                    <a:lumMod val="75000"/>
                  </a:schemeClr>
                </a:solidFill>
              </a:rPr>
              <a:t>Lab</a:t>
            </a:r>
          </a:p>
        </p:txBody>
      </p:sp>
      <p:sp>
        <p:nvSpPr>
          <p:cNvPr id="126" name="TextBox 125">
            <a:extLst>
              <a:ext uri="{FF2B5EF4-FFF2-40B4-BE49-F238E27FC236}">
                <a16:creationId xmlns:a16="http://schemas.microsoft.com/office/drawing/2014/main" id="{070A5B8A-DE8E-BE42-A332-990845ADE2C7}"/>
              </a:ext>
            </a:extLst>
          </p:cNvPr>
          <p:cNvSpPr txBox="1"/>
          <p:nvPr/>
        </p:nvSpPr>
        <p:spPr>
          <a:xfrm>
            <a:off x="2916868" y="17655807"/>
            <a:ext cx="1309266" cy="307777"/>
          </a:xfrm>
          <a:prstGeom prst="rect">
            <a:avLst/>
          </a:prstGeom>
          <a:noFill/>
        </p:spPr>
        <p:txBody>
          <a:bodyPr wrap="square" rtlCol="0">
            <a:spAutoFit/>
          </a:bodyPr>
          <a:lstStyle/>
          <a:p>
            <a:pPr algn="ctr"/>
            <a:r>
              <a:rPr lang="en-US" sz="1400" dirty="0">
                <a:solidFill>
                  <a:srgbClr val="FF0000"/>
                </a:solidFill>
              </a:rPr>
              <a:t>Project Due</a:t>
            </a:r>
          </a:p>
        </p:txBody>
      </p:sp>
      <p:sp>
        <p:nvSpPr>
          <p:cNvPr id="127" name="TextBox 126">
            <a:extLst>
              <a:ext uri="{FF2B5EF4-FFF2-40B4-BE49-F238E27FC236}">
                <a16:creationId xmlns:a16="http://schemas.microsoft.com/office/drawing/2014/main" id="{A973221E-BB27-0848-ADD2-1F17CCBF6901}"/>
              </a:ext>
            </a:extLst>
          </p:cNvPr>
          <p:cNvSpPr txBox="1"/>
          <p:nvPr/>
        </p:nvSpPr>
        <p:spPr>
          <a:xfrm>
            <a:off x="7246446" y="17660999"/>
            <a:ext cx="1309266" cy="307777"/>
          </a:xfrm>
          <a:prstGeom prst="rect">
            <a:avLst/>
          </a:prstGeom>
          <a:noFill/>
        </p:spPr>
        <p:txBody>
          <a:bodyPr wrap="square" rtlCol="0">
            <a:spAutoFit/>
          </a:bodyPr>
          <a:lstStyle/>
          <a:p>
            <a:pPr algn="ctr"/>
            <a:r>
              <a:rPr lang="en-US" sz="1400" dirty="0">
                <a:solidFill>
                  <a:srgbClr val="FF0000"/>
                </a:solidFill>
              </a:rPr>
              <a:t>Lab Due</a:t>
            </a:r>
          </a:p>
        </p:txBody>
      </p:sp>
    </p:spTree>
    <p:extLst>
      <p:ext uri="{BB962C8B-B14F-4D97-AF65-F5344CB8AC3E}">
        <p14:creationId xmlns:p14="http://schemas.microsoft.com/office/powerpoint/2010/main" val="883950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42277</TotalTime>
  <Words>791</Words>
  <Application>Microsoft Macintosh PowerPoint</Application>
  <PresentationFormat>Custom</PresentationFormat>
  <Paragraphs>93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Corbel</vt:lpstr>
      <vt:lpstr>Helvetica</vt:lpstr>
      <vt:lpstr>Wingdings</vt:lpstr>
      <vt:lpstr>Office Theme</vt:lpstr>
      <vt:lpstr>PowerPoint Presentation</vt:lpstr>
    </vt:vector>
  </TitlesOfParts>
  <Company>OHSU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Deanna Plubell</dc:creator>
  <cp:lastModifiedBy>Gurcan, Emma C.</cp:lastModifiedBy>
  <cp:revision>549</cp:revision>
  <cp:lastPrinted>2018-05-04T16:47:40Z</cp:lastPrinted>
  <dcterms:created xsi:type="dcterms:W3CDTF">2017-03-06T17:57:23Z</dcterms:created>
  <dcterms:modified xsi:type="dcterms:W3CDTF">2022-05-18T05:59:48Z</dcterms:modified>
</cp:coreProperties>
</file>